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256" r:id="rId5"/>
    <p:sldId id="258" r:id="rId6"/>
    <p:sldId id="259" r:id="rId7"/>
    <p:sldId id="260" r:id="rId8"/>
    <p:sldId id="270" r:id="rId9"/>
    <p:sldId id="28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71" r:id="rId19"/>
    <p:sldId id="272" r:id="rId20"/>
    <p:sldId id="273" r:id="rId21"/>
    <p:sldId id="276" r:id="rId22"/>
    <p:sldId id="278" r:id="rId23"/>
    <p:sldId id="277" r:id="rId24"/>
    <p:sldId id="274" r:id="rId25"/>
    <p:sldId id="283" r:id="rId26"/>
    <p:sldId id="284" r:id="rId27"/>
    <p:sldId id="281" r:id="rId28"/>
    <p:sldId id="279" r:id="rId29"/>
    <p:sldId id="282" r:id="rId30"/>
    <p:sldId id="27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8F32A-8F61-4038-BE88-FEA50794B847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2CA85-CA78-47BB-9CBA-12D15DCE7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25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2CA85-CA78-47BB-9CBA-12D15DCE7ED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72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2CA85-CA78-47BB-9CBA-12D15DCE7ED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22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8F25-E3A9-CD32-DC35-FF297F40C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DB50D-02F4-5670-DE66-24E9EC405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FD028-58CC-6114-4D89-AD802800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8F1C-B38A-4AC3-A6D9-B2878B48369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2AF7B-BD72-52F0-DFEE-F8914D38A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BA1D7-13FF-514F-8C27-2AEAE87ED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252F7-7C60-48E8-AC63-7EFDC8980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51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9775-AA3B-29D1-C337-FBEB275D0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D220C-BD12-BC11-5C83-0B040BD32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F7E40-6EEF-1F4A-9CF4-E5B78CD30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8F1C-B38A-4AC3-A6D9-B2878B48369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781CE-1BCD-16CD-5E3E-99C3896E3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C6BE9-08F4-6E7A-149B-3B63A983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252F7-7C60-48E8-AC63-7EFDC8980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8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9A1EF-332B-7141-1A3D-07A689E23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DECE6-DEBF-8296-5E2F-F9AFDFC2D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5A75D-E509-52CB-D116-8105BA89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8F1C-B38A-4AC3-A6D9-B2878B48369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7C7A-5CDE-8F71-47DD-1BCB0580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49500-FFB3-EC00-2613-8015D74D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252F7-7C60-48E8-AC63-7EFDC8980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EAF8-DCDE-B2F4-1211-6BFD05A8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4C414-C8E8-C75A-D5E6-209558E589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0CEA-EB6F-B26A-62A6-AE9957BB8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29C6A-CFD8-05CA-547F-4D0A06DC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8F1C-B38A-4AC3-A6D9-B2878B48369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0AEE9-055C-123A-47AF-2FAD42C6D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99C83-75B9-88F8-06CC-AA1491123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252F7-7C60-48E8-AC63-7EFDC8980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75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0759-72A5-673D-5B60-75C59F70C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F01F8-24C0-34DE-F847-AF68BBE44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023E2-78DB-1E48-2786-A7461C458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098E9-C2C9-961E-50DD-E126661B7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3C5ED-0C74-AE9D-829C-728762EA26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6467E5-DB18-7665-7EDF-9D0D948A4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8F1C-B38A-4AC3-A6D9-B2878B48369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0F719-68FA-F569-6772-CEE6ED59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55EDDE-32BB-1717-7A75-8294BCFC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252F7-7C60-48E8-AC63-7EFDC8980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67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38D7-6621-FD5F-D624-6E019D098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F16874-598D-5AA2-C7D1-F12830B6F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8F1C-B38A-4AC3-A6D9-B2878B48369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3FE17-6C78-40C6-9EED-B68A0AFF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EF308-7F60-EE7F-E4EB-F3D3C25C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252F7-7C60-48E8-AC63-7EFDC8980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1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916B4-505C-27D3-2CF0-2D694768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8F1C-B38A-4AC3-A6D9-B2878B48369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62F862-596F-7186-AD8C-FA7424D6B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26CD2-40C3-6648-E3CA-DD9AA66B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252F7-7C60-48E8-AC63-7EFDC8980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47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9B30-452E-589F-C88E-7542A418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E3A54-A64C-5C60-2D5B-CC23E4CAD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0BC2C-0518-3A37-7B87-AF8E477ED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1C7FF-42DE-51E7-6AD4-D10812789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8F1C-B38A-4AC3-A6D9-B2878B48369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E1A3F-3490-93E6-C18C-61E2817F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08B4D-98BA-84A6-A77A-1B1B170A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252F7-7C60-48E8-AC63-7EFDC8980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3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7351-CEFD-38F8-85E4-E45C2121B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90FB2-2282-DEBB-2116-5433C3AA4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0C634-3CB3-3605-7223-DB02F1212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E956F-C386-D7AD-8626-59CE4309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8F1C-B38A-4AC3-A6D9-B2878B48369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D86E3-7865-C622-9165-AE58B6B8B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6E816-272F-95E0-46CC-34BFA3AC4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252F7-7C60-48E8-AC63-7EFDC8980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B68D-8D2F-9817-9A40-5024C3EA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0EA77-1CE1-A82F-0C41-3D97C7AF8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0B982-9F6B-DD13-8331-EE8F90509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8F1C-B38A-4AC3-A6D9-B2878B48369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5D664-8011-2DE4-8D4D-0D7BCAFA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EBC88-D6A3-E000-EC99-B74AA03C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252F7-7C60-48E8-AC63-7EFDC8980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6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AB70E-DF7B-1690-3DA7-D20E56E99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F61D0-1947-F5D1-88F2-6F9900507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B8FE1-5791-7A9D-46F3-79DF207C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8F1C-B38A-4AC3-A6D9-B2878B48369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D91CD-5FB1-D75F-CC51-9F545D390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82694-AA0D-1E86-BFDB-93DED1CDD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252F7-7C60-48E8-AC63-7EFDC8980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3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36796-B63C-ADCD-04EA-C9C02A0E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B3376-CD4C-3511-1115-F288BC181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E23A4-27FF-FA87-DAEF-3423059AC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D8F1C-B38A-4AC3-A6D9-B2878B48369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1831E-153E-8F9F-455A-64E8721AB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ECBD3-FB6C-6297-2D87-D8488A648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252F7-7C60-48E8-AC63-7EFDC8980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Rakibuz/CSCE500-Algorithm-Design-Analysis-Spring25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42B4-13A6-9A77-EEFB-23FE5F651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038" y="1789977"/>
            <a:ext cx="9144000" cy="2387600"/>
          </a:xfrm>
        </p:spPr>
        <p:txBody>
          <a:bodyPr/>
          <a:lstStyle/>
          <a:p>
            <a:r>
              <a:rPr lang="en-US" dirty="0"/>
              <a:t>Maximum-Weight Independent Set (MWIS)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E7840-C54B-362E-1358-F463C5C0E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038" y="4177577"/>
            <a:ext cx="9144000" cy="1895168"/>
          </a:xfrm>
        </p:spPr>
        <p:txBody>
          <a:bodyPr>
            <a:normAutofit fontScale="92500" lnSpcReduction="10000"/>
          </a:bodyPr>
          <a:lstStyle/>
          <a:p>
            <a:r>
              <a:rPr lang="en-US" sz="1800" b="0" i="0" dirty="0">
                <a:solidFill>
                  <a:srgbClr val="000000"/>
                </a:solidFill>
                <a:effectLst/>
              </a:rPr>
              <a:t>CSCE500 – Algorithm Design &amp; Analysis – Spring 2025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1800" dirty="0"/>
              <a:t>Presenter: </a:t>
            </a:r>
            <a:r>
              <a:rPr lang="en-US" sz="1800" b="1" dirty="0"/>
              <a:t>Md Rakibuz Sultan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AD0BE428-DF7E-4036-4903-3A2FE512B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83" y="357008"/>
            <a:ext cx="3466534" cy="118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59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B060-88D9-67B2-2855-A986D4834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95"/>
            <a:ext cx="10515600" cy="892612"/>
          </a:xfrm>
        </p:spPr>
        <p:txBody>
          <a:bodyPr/>
          <a:lstStyle/>
          <a:p>
            <a:pPr algn="ctr"/>
            <a:r>
              <a:rPr lang="en-US" b="1" dirty="0"/>
              <a:t>Independent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86FF1-890F-DB19-DDA7-285139928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3438"/>
            <a:ext cx="10515600" cy="5549446"/>
          </a:xfrm>
        </p:spPr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An </a:t>
            </a:r>
            <a:r>
              <a:rPr lang="en-US" u="sng" dirty="0">
                <a:solidFill>
                  <a:srgbClr val="FF0000"/>
                </a:solidFill>
              </a:rPr>
              <a:t>independent set </a:t>
            </a:r>
            <a:r>
              <a:rPr lang="en-US" dirty="0"/>
              <a:t>of a graph 𝐺=(𝑉,𝐸) is a set 𝑈⊆𝑉 of vertices such that there are no edges between any two vertices in 𝑈.</a:t>
            </a:r>
          </a:p>
          <a:p>
            <a:r>
              <a:rPr lang="en-US" dirty="0">
                <a:solidFill>
                  <a:srgbClr val="001D35"/>
                </a:solidFill>
                <a:latin typeface="Google Sans"/>
              </a:rPr>
              <a:t>A subset of vertices in a graph such that </a:t>
            </a:r>
            <a:r>
              <a:rPr lang="en-US" b="1" dirty="0">
                <a:solidFill>
                  <a:srgbClr val="FF0000"/>
                </a:solidFill>
              </a:rPr>
              <a:t>no two </a:t>
            </a:r>
            <a:r>
              <a:rPr lang="en-US" dirty="0">
                <a:solidFill>
                  <a:srgbClr val="001D35"/>
                </a:solidFill>
                <a:latin typeface="Google Sans"/>
              </a:rPr>
              <a:t>vertices are adjacent.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ACC28A-D962-CFCA-4C68-9A4DA6CDDFC9}"/>
              </a:ext>
            </a:extLst>
          </p:cNvPr>
          <p:cNvSpPr/>
          <p:nvPr/>
        </p:nvSpPr>
        <p:spPr>
          <a:xfrm>
            <a:off x="4614431" y="4832887"/>
            <a:ext cx="417871" cy="465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CD9F3A-7011-4213-CFD1-4C5366102F6A}"/>
              </a:ext>
            </a:extLst>
          </p:cNvPr>
          <p:cNvCxnSpPr/>
          <p:nvPr/>
        </p:nvCxnSpPr>
        <p:spPr>
          <a:xfrm>
            <a:off x="7902979" y="2994703"/>
            <a:ext cx="1" cy="1798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634EF39-8187-C556-1754-B06C573641A9}"/>
              </a:ext>
            </a:extLst>
          </p:cNvPr>
          <p:cNvGrpSpPr/>
          <p:nvPr/>
        </p:nvGrpSpPr>
        <p:grpSpPr>
          <a:xfrm>
            <a:off x="2727576" y="2836121"/>
            <a:ext cx="5353661" cy="2776806"/>
            <a:chOff x="5582263" y="2884464"/>
            <a:chExt cx="5353661" cy="27768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FF7B326-1E40-6846-3281-8754E0287845}"/>
                </a:ext>
              </a:extLst>
            </p:cNvPr>
            <p:cNvSpPr/>
            <p:nvPr/>
          </p:nvSpPr>
          <p:spPr>
            <a:xfrm>
              <a:off x="7405607" y="3250970"/>
              <a:ext cx="417871" cy="465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ECC6012-CC26-C81D-9FA9-C6CB60B5F2E8}"/>
                </a:ext>
              </a:extLst>
            </p:cNvPr>
            <p:cNvGrpSpPr/>
            <p:nvPr/>
          </p:nvGrpSpPr>
          <p:grpSpPr>
            <a:xfrm>
              <a:off x="5582263" y="2884464"/>
              <a:ext cx="5353661" cy="2776806"/>
              <a:chOff x="5552766" y="2851817"/>
              <a:chExt cx="5353661" cy="2776806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3E62A21-17F5-AE88-87C1-655342D36030}"/>
                  </a:ext>
                </a:extLst>
              </p:cNvPr>
              <p:cNvSpPr/>
              <p:nvPr/>
            </p:nvSpPr>
            <p:spPr>
              <a:xfrm>
                <a:off x="9055510" y="3885151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7545C14-96F7-6650-8651-E235F00A75AB}"/>
                  </a:ext>
                </a:extLst>
              </p:cNvPr>
              <p:cNvSpPr/>
              <p:nvPr/>
            </p:nvSpPr>
            <p:spPr>
              <a:xfrm>
                <a:off x="10464853" y="2851817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FDE14BF9-EF6C-5DB6-A7F6-5ABCA2FBE0CC}"/>
                  </a:ext>
                </a:extLst>
              </p:cNvPr>
              <p:cNvCxnSpPr>
                <a:endCxn id="10" idx="0"/>
              </p:cNvCxnSpPr>
              <p:nvPr/>
            </p:nvCxnSpPr>
            <p:spPr>
              <a:xfrm>
                <a:off x="5818237" y="3364732"/>
                <a:ext cx="1" cy="17982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4A56081-84E1-1E12-76F5-8D9FB4A7B3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1335" y="5167397"/>
                <a:ext cx="1738545" cy="35483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BD488A6-1E4E-FF03-4AFB-8B4A535C0B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10447" y="3578066"/>
                <a:ext cx="1635703" cy="4791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AA1DC84-8EEF-B199-965F-77DE07E3A583}"/>
                  </a:ext>
                </a:extLst>
              </p:cNvPr>
              <p:cNvSpPr/>
              <p:nvPr/>
            </p:nvSpPr>
            <p:spPr>
              <a:xfrm>
                <a:off x="5552766" y="3072927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50EDD9F-E8FE-B877-BA83-91933D45FB8C}"/>
                  </a:ext>
                </a:extLst>
              </p:cNvPr>
              <p:cNvSpPr/>
              <p:nvPr/>
            </p:nvSpPr>
            <p:spPr>
              <a:xfrm>
                <a:off x="5609302" y="5162999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9F3BB4B-ACC7-9DAD-DBA8-A80479435F4E}"/>
                  </a:ext>
                </a:extLst>
              </p:cNvPr>
              <p:cNvSpPr/>
              <p:nvPr/>
            </p:nvSpPr>
            <p:spPr>
              <a:xfrm>
                <a:off x="10488556" y="4700538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C0C35CA-B8DF-E971-9C04-47308BBABA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1335" y="3364732"/>
                <a:ext cx="1753708" cy="1071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CCFEBE38-BAAB-96AC-C929-798C011E8F31}"/>
                  </a:ext>
                </a:extLst>
              </p:cNvPr>
              <p:cNvCxnSpPr/>
              <p:nvPr/>
            </p:nvCxnSpPr>
            <p:spPr>
              <a:xfrm>
                <a:off x="7643210" y="3513094"/>
                <a:ext cx="1" cy="17982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5F33960-9EE2-725C-4E6C-027729FEF23C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 flipH="1">
                <a:off x="5970638" y="3521981"/>
                <a:ext cx="1496165" cy="179341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3D301FB-914F-ED63-79BE-8CEF7A7D08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24347" y="3963585"/>
                <a:ext cx="1521803" cy="113725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AB1A1D17-97BA-FFC9-E677-F689F8712E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84396" y="4930187"/>
                <a:ext cx="2913095" cy="22543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0B51B21-C6B2-A84F-4358-8A5C37821C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36283" y="3131920"/>
                <a:ext cx="1283125" cy="89913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23959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AF306-D9F3-A8A8-C828-91C44FA81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C3FF-E7BB-9B3E-711C-3ECF1014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452"/>
            <a:ext cx="10515600" cy="821914"/>
          </a:xfrm>
        </p:spPr>
        <p:txBody>
          <a:bodyPr/>
          <a:lstStyle/>
          <a:p>
            <a:pPr algn="ctr"/>
            <a:r>
              <a:rPr lang="en-US" b="1" dirty="0"/>
              <a:t>Independent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4691-C7B8-A1E6-CC6F-2EB56DFE1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4907539"/>
          </a:xfrm>
        </p:spPr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An </a:t>
            </a:r>
            <a:r>
              <a:rPr lang="en-US" u="sng" dirty="0">
                <a:solidFill>
                  <a:srgbClr val="FF0000"/>
                </a:solidFill>
              </a:rPr>
              <a:t>independent set </a:t>
            </a:r>
            <a:r>
              <a:rPr lang="en-US" dirty="0"/>
              <a:t>of a graph 𝐺=(𝑉,𝐸) is a set 𝑈⊆𝑉 of vertices such that there are no edges between any two vertices in 𝑈.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BECFC7-6BD0-DD34-25EF-DE36AE989EC9}"/>
              </a:ext>
            </a:extLst>
          </p:cNvPr>
          <p:cNvSpPr/>
          <p:nvPr/>
        </p:nvSpPr>
        <p:spPr>
          <a:xfrm>
            <a:off x="4614431" y="4832887"/>
            <a:ext cx="417871" cy="465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AF77C1-CF3B-E26D-790E-8338B5099D4B}"/>
              </a:ext>
            </a:extLst>
          </p:cNvPr>
          <p:cNvCxnSpPr/>
          <p:nvPr/>
        </p:nvCxnSpPr>
        <p:spPr>
          <a:xfrm>
            <a:off x="7902979" y="2994703"/>
            <a:ext cx="1" cy="1798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4D895C-1125-9FD2-657E-B5F6A0FD5B8E}"/>
              </a:ext>
            </a:extLst>
          </p:cNvPr>
          <p:cNvGrpSpPr/>
          <p:nvPr/>
        </p:nvGrpSpPr>
        <p:grpSpPr>
          <a:xfrm>
            <a:off x="2746204" y="2862105"/>
            <a:ext cx="5353661" cy="2603091"/>
            <a:chOff x="5582263" y="3058179"/>
            <a:chExt cx="5353661" cy="260309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3D3D2FC-634C-B26B-F309-EEB9EB1258E6}"/>
                </a:ext>
              </a:extLst>
            </p:cNvPr>
            <p:cNvSpPr/>
            <p:nvPr/>
          </p:nvSpPr>
          <p:spPr>
            <a:xfrm>
              <a:off x="7405607" y="3250970"/>
              <a:ext cx="417871" cy="465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34A5E72-99B4-F506-EF55-CFAB28D16563}"/>
                </a:ext>
              </a:extLst>
            </p:cNvPr>
            <p:cNvGrpSpPr/>
            <p:nvPr/>
          </p:nvGrpSpPr>
          <p:grpSpPr>
            <a:xfrm>
              <a:off x="5582263" y="3058179"/>
              <a:ext cx="5353661" cy="2603091"/>
              <a:chOff x="5552766" y="3025532"/>
              <a:chExt cx="5353661" cy="2603091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76343DD8-64B5-251D-FEFD-DAE6DF8DDCB5}"/>
                  </a:ext>
                </a:extLst>
              </p:cNvPr>
              <p:cNvSpPr/>
              <p:nvPr/>
            </p:nvSpPr>
            <p:spPr>
              <a:xfrm>
                <a:off x="9055510" y="3885151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51CBFCB-1D1F-24E9-D1F9-2D9313A1D069}"/>
                  </a:ext>
                </a:extLst>
              </p:cNvPr>
              <p:cNvSpPr/>
              <p:nvPr/>
            </p:nvSpPr>
            <p:spPr>
              <a:xfrm>
                <a:off x="10476267" y="3025532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D241B75-AB31-50AB-10E1-F0CC22A10E60}"/>
                  </a:ext>
                </a:extLst>
              </p:cNvPr>
              <p:cNvCxnSpPr>
                <a:endCxn id="10" idx="0"/>
              </p:cNvCxnSpPr>
              <p:nvPr/>
            </p:nvCxnSpPr>
            <p:spPr>
              <a:xfrm>
                <a:off x="5818237" y="3364732"/>
                <a:ext cx="1" cy="17982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92944B8-18D7-E046-0B53-EA5E80CD2D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1335" y="5167397"/>
                <a:ext cx="1738545" cy="35483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741F5F-3F45-2551-A3DB-D14C3CF17E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10447" y="3578066"/>
                <a:ext cx="1635703" cy="4791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B40EEFE-AD7D-0D01-B153-BE232FAE6E82}"/>
                  </a:ext>
                </a:extLst>
              </p:cNvPr>
              <p:cNvSpPr/>
              <p:nvPr/>
            </p:nvSpPr>
            <p:spPr>
              <a:xfrm>
                <a:off x="5552766" y="3072927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1A961B3-DB9A-3465-EEA0-8C3A84ED042B}"/>
                  </a:ext>
                </a:extLst>
              </p:cNvPr>
              <p:cNvSpPr/>
              <p:nvPr/>
            </p:nvSpPr>
            <p:spPr>
              <a:xfrm>
                <a:off x="5609302" y="5162999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485D63E-08A2-3D19-A36D-0358980CE556}"/>
                  </a:ext>
                </a:extLst>
              </p:cNvPr>
              <p:cNvSpPr/>
              <p:nvPr/>
            </p:nvSpPr>
            <p:spPr>
              <a:xfrm>
                <a:off x="10488556" y="4700538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2C1AD27-E39C-D793-C300-0B7A2AE515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1335" y="3364732"/>
                <a:ext cx="1753708" cy="1071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7A612B00-1016-C282-6F90-0625126B4FC9}"/>
                  </a:ext>
                </a:extLst>
              </p:cNvPr>
              <p:cNvCxnSpPr/>
              <p:nvPr/>
            </p:nvCxnSpPr>
            <p:spPr>
              <a:xfrm>
                <a:off x="7643210" y="3513094"/>
                <a:ext cx="1" cy="17982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7A3D96C5-FBF4-2D15-D412-9A328EE237A1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 flipH="1">
                <a:off x="5970638" y="3521981"/>
                <a:ext cx="1496165" cy="179341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C9DED79-64DD-8778-7346-F660681D2E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24347" y="3963585"/>
                <a:ext cx="1521803" cy="113725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294CD4A-2E25-999D-9AF6-F59B7D0BC5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84396" y="4930187"/>
                <a:ext cx="2913095" cy="22543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C8AEA0C-CCA2-4E3A-8BFD-FF3635DA60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36283" y="3131920"/>
                <a:ext cx="1283125" cy="89913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122E61A-F9EC-104D-5E06-5FA1049B7DCF}"/>
              </a:ext>
            </a:extLst>
          </p:cNvPr>
          <p:cNvSpPr/>
          <p:nvPr/>
        </p:nvSpPr>
        <p:spPr>
          <a:xfrm>
            <a:off x="2413828" y="2735681"/>
            <a:ext cx="1082619" cy="85961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416A22-3AF1-02FA-A354-E3E6B9AF25ED}"/>
              </a:ext>
            </a:extLst>
          </p:cNvPr>
          <p:cNvSpPr/>
          <p:nvPr/>
        </p:nvSpPr>
        <p:spPr>
          <a:xfrm>
            <a:off x="4247836" y="4648058"/>
            <a:ext cx="1082619" cy="85961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F7F6C4-BBDA-DD17-BC2E-51F11150EFF3}"/>
              </a:ext>
            </a:extLst>
          </p:cNvPr>
          <p:cNvSpPr/>
          <p:nvPr/>
        </p:nvSpPr>
        <p:spPr>
          <a:xfrm>
            <a:off x="7270445" y="2651739"/>
            <a:ext cx="1082619" cy="85961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8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31E00-5588-39F6-B6DA-87AE661F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D25A-E4C6-F488-57DE-88D935840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021839"/>
          </a:xfrm>
        </p:spPr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An </a:t>
            </a:r>
            <a:r>
              <a:rPr lang="en-US" u="sng" dirty="0">
                <a:solidFill>
                  <a:srgbClr val="FF0000"/>
                </a:solidFill>
              </a:rPr>
              <a:t>independent set </a:t>
            </a:r>
            <a:r>
              <a:rPr lang="en-US" dirty="0"/>
              <a:t>of a graph 𝐺=(𝑉,𝐸) is a set 𝑈⊆𝑉 of vertices such that there are no edges between any two vertices in 𝑈.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B77EF5-F006-EDF0-C574-038F9D593A97}"/>
              </a:ext>
            </a:extLst>
          </p:cNvPr>
          <p:cNvSpPr/>
          <p:nvPr/>
        </p:nvSpPr>
        <p:spPr>
          <a:xfrm>
            <a:off x="4614431" y="4832887"/>
            <a:ext cx="417871" cy="465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F4DE0E1-F53A-8F0B-1FC5-E428E781D316}"/>
              </a:ext>
            </a:extLst>
          </p:cNvPr>
          <p:cNvCxnSpPr/>
          <p:nvPr/>
        </p:nvCxnSpPr>
        <p:spPr>
          <a:xfrm>
            <a:off x="7902979" y="2994703"/>
            <a:ext cx="1" cy="1798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9E59226-60E7-4543-16DC-BD00C2CA0385}"/>
              </a:ext>
            </a:extLst>
          </p:cNvPr>
          <p:cNvGrpSpPr/>
          <p:nvPr/>
        </p:nvGrpSpPr>
        <p:grpSpPr>
          <a:xfrm>
            <a:off x="2746204" y="2862105"/>
            <a:ext cx="5353661" cy="2603091"/>
            <a:chOff x="5582263" y="3058179"/>
            <a:chExt cx="5353661" cy="260309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33B297A-AD7B-903B-C86B-31887967F0C2}"/>
                </a:ext>
              </a:extLst>
            </p:cNvPr>
            <p:cNvSpPr/>
            <p:nvPr/>
          </p:nvSpPr>
          <p:spPr>
            <a:xfrm>
              <a:off x="7405607" y="3250970"/>
              <a:ext cx="417871" cy="465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52F5B83-B76E-527C-6414-BFE2D7ED6D9B}"/>
                </a:ext>
              </a:extLst>
            </p:cNvPr>
            <p:cNvGrpSpPr/>
            <p:nvPr/>
          </p:nvGrpSpPr>
          <p:grpSpPr>
            <a:xfrm>
              <a:off x="5582263" y="3058179"/>
              <a:ext cx="5353661" cy="2603091"/>
              <a:chOff x="5552766" y="3025532"/>
              <a:chExt cx="5353661" cy="2603091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4BFFC69-18E9-1545-6DDF-A61BD452159B}"/>
                  </a:ext>
                </a:extLst>
              </p:cNvPr>
              <p:cNvSpPr/>
              <p:nvPr/>
            </p:nvSpPr>
            <p:spPr>
              <a:xfrm>
                <a:off x="9055510" y="3885151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8DFFD1A-14C6-01C6-2A5D-FA163587C557}"/>
                  </a:ext>
                </a:extLst>
              </p:cNvPr>
              <p:cNvSpPr/>
              <p:nvPr/>
            </p:nvSpPr>
            <p:spPr>
              <a:xfrm>
                <a:off x="10476267" y="3025532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1AD7AAB-86A3-C1DC-6C11-5B595B7FF0CF}"/>
                  </a:ext>
                </a:extLst>
              </p:cNvPr>
              <p:cNvCxnSpPr>
                <a:endCxn id="10" idx="0"/>
              </p:cNvCxnSpPr>
              <p:nvPr/>
            </p:nvCxnSpPr>
            <p:spPr>
              <a:xfrm>
                <a:off x="5818237" y="3364732"/>
                <a:ext cx="1" cy="17982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4A4EDE7-B65F-3836-3C75-DABBD7E5C1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1335" y="5167397"/>
                <a:ext cx="1738545" cy="35483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4D49AB6-6862-9A65-E674-540AD09FED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10447" y="3578066"/>
                <a:ext cx="1635703" cy="4791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DA041F5-1319-3D14-18FC-CB36714FC8DD}"/>
                  </a:ext>
                </a:extLst>
              </p:cNvPr>
              <p:cNvSpPr/>
              <p:nvPr/>
            </p:nvSpPr>
            <p:spPr>
              <a:xfrm>
                <a:off x="5552766" y="3072927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7CD5C3A-F231-8013-7EB7-AC56EDC29DA0}"/>
                  </a:ext>
                </a:extLst>
              </p:cNvPr>
              <p:cNvSpPr/>
              <p:nvPr/>
            </p:nvSpPr>
            <p:spPr>
              <a:xfrm>
                <a:off x="5609302" y="5162999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2F5A179-4D0B-3A41-0CA1-98C194B75FAD}"/>
                  </a:ext>
                </a:extLst>
              </p:cNvPr>
              <p:cNvSpPr/>
              <p:nvPr/>
            </p:nvSpPr>
            <p:spPr>
              <a:xfrm>
                <a:off x="10488556" y="4700538"/>
                <a:ext cx="417871" cy="465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880C98C-6EED-DFB3-C804-247CDD1E32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1335" y="3364732"/>
                <a:ext cx="1753708" cy="1071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0A481CD-1B58-3D41-0DCF-228D3737E6D2}"/>
                  </a:ext>
                </a:extLst>
              </p:cNvPr>
              <p:cNvCxnSpPr/>
              <p:nvPr/>
            </p:nvCxnSpPr>
            <p:spPr>
              <a:xfrm>
                <a:off x="7643210" y="3513094"/>
                <a:ext cx="1" cy="17982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F51751F-B73F-E292-BFAF-53F1A7F5A4AF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 flipH="1">
                <a:off x="5970638" y="3521981"/>
                <a:ext cx="1496165" cy="179341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C985263-119C-C384-60AD-2BBA5255D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24347" y="3963585"/>
                <a:ext cx="1521803" cy="113725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A461D80-7DEB-9E50-7369-7578C28AC0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84396" y="4930187"/>
                <a:ext cx="2913095" cy="22543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FE5DCAB-7CD6-65DA-AD57-F2693DA64A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36283" y="3131920"/>
                <a:ext cx="1283125" cy="89913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399EE959-B335-A3E4-F9B5-10024F34D3DF}"/>
              </a:ext>
            </a:extLst>
          </p:cNvPr>
          <p:cNvSpPr/>
          <p:nvPr/>
        </p:nvSpPr>
        <p:spPr>
          <a:xfrm>
            <a:off x="2446359" y="4827472"/>
            <a:ext cx="1082619" cy="859619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2346BD-654B-10AF-D511-78E6FDFD9540}"/>
              </a:ext>
            </a:extLst>
          </p:cNvPr>
          <p:cNvSpPr/>
          <p:nvPr/>
        </p:nvSpPr>
        <p:spPr>
          <a:xfrm>
            <a:off x="7337330" y="4299180"/>
            <a:ext cx="1082619" cy="859619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963440-22C3-0C36-1D68-3C873870BBA7}"/>
              </a:ext>
            </a:extLst>
          </p:cNvPr>
          <p:cNvSpPr/>
          <p:nvPr/>
        </p:nvSpPr>
        <p:spPr>
          <a:xfrm>
            <a:off x="5884704" y="3524726"/>
            <a:ext cx="1082619" cy="859619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F0D824-2419-46F3-3A8F-27AD992D0858}"/>
              </a:ext>
            </a:extLst>
          </p:cNvPr>
          <p:cNvSpPr txBox="1">
            <a:spLocks/>
          </p:cNvSpPr>
          <p:nvPr/>
        </p:nvSpPr>
        <p:spPr>
          <a:xfrm>
            <a:off x="0" y="16895"/>
            <a:ext cx="10515600" cy="892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Independent Set</a:t>
            </a:r>
          </a:p>
        </p:txBody>
      </p:sp>
    </p:spTree>
    <p:extLst>
      <p:ext uri="{BB962C8B-B14F-4D97-AF65-F5344CB8AC3E}">
        <p14:creationId xmlns:p14="http://schemas.microsoft.com/office/powerpoint/2010/main" val="3564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74FC-20F9-3B6B-FD8A-AADA9458C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" y="20436"/>
            <a:ext cx="10515600" cy="832503"/>
          </a:xfrm>
        </p:spPr>
        <p:txBody>
          <a:bodyPr/>
          <a:lstStyle/>
          <a:p>
            <a:pPr algn="ctr"/>
            <a:r>
              <a:rPr lang="en-US" b="1" dirty="0"/>
              <a:t>MWIS for General Graph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D9826EE-6382-4FE3-AA1A-8A8913563C9D}"/>
              </a:ext>
            </a:extLst>
          </p:cNvPr>
          <p:cNvSpPr/>
          <p:nvPr/>
        </p:nvSpPr>
        <p:spPr>
          <a:xfrm>
            <a:off x="4026310" y="2507226"/>
            <a:ext cx="545690" cy="4866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698125-B7C2-1878-AE44-2BD34E8A1135}"/>
              </a:ext>
            </a:extLst>
          </p:cNvPr>
          <p:cNvSpPr/>
          <p:nvPr/>
        </p:nvSpPr>
        <p:spPr>
          <a:xfrm>
            <a:off x="2718619" y="4060723"/>
            <a:ext cx="545690" cy="4866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0FD0E7-0DDD-27F6-340E-37B0DC6D19AA}"/>
              </a:ext>
            </a:extLst>
          </p:cNvPr>
          <p:cNvSpPr/>
          <p:nvPr/>
        </p:nvSpPr>
        <p:spPr>
          <a:xfrm>
            <a:off x="6213987" y="2676603"/>
            <a:ext cx="545690" cy="4866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6D93A7-4E8D-F2B8-E435-D902C5358415}"/>
              </a:ext>
            </a:extLst>
          </p:cNvPr>
          <p:cNvSpPr/>
          <p:nvPr/>
        </p:nvSpPr>
        <p:spPr>
          <a:xfrm>
            <a:off x="4458929" y="4304071"/>
            <a:ext cx="545690" cy="4866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0C2FEA-9348-ED06-C11B-008F7405CA4A}"/>
              </a:ext>
            </a:extLst>
          </p:cNvPr>
          <p:cNvSpPr/>
          <p:nvPr/>
        </p:nvSpPr>
        <p:spPr>
          <a:xfrm>
            <a:off x="6199239" y="4119489"/>
            <a:ext cx="545690" cy="4866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D5D2392-A135-7B93-9D26-F411D6E2DDC7}"/>
              </a:ext>
            </a:extLst>
          </p:cNvPr>
          <p:cNvSpPr/>
          <p:nvPr/>
        </p:nvSpPr>
        <p:spPr>
          <a:xfrm>
            <a:off x="7855974" y="3185651"/>
            <a:ext cx="545690" cy="4866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34383C-146A-8654-1796-179737FAE2E9}"/>
              </a:ext>
            </a:extLst>
          </p:cNvPr>
          <p:cNvCxnSpPr>
            <a:cxnSpLocks/>
            <a:stCxn id="7" idx="7"/>
            <a:endCxn id="4" idx="3"/>
          </p:cNvCxnSpPr>
          <p:nvPr/>
        </p:nvCxnSpPr>
        <p:spPr>
          <a:xfrm flipV="1">
            <a:off x="3184395" y="2922648"/>
            <a:ext cx="921829" cy="1209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247BCA-8D9B-E175-3496-65C2D85F17E1}"/>
              </a:ext>
            </a:extLst>
          </p:cNvPr>
          <p:cNvCxnSpPr>
            <a:cxnSpLocks/>
            <a:stCxn id="7" idx="5"/>
            <a:endCxn id="9" idx="2"/>
          </p:cNvCxnSpPr>
          <p:nvPr/>
        </p:nvCxnSpPr>
        <p:spPr>
          <a:xfrm>
            <a:off x="3184395" y="4476145"/>
            <a:ext cx="1274534" cy="71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13364D1-1BDB-E7A9-FF99-2AA4F30B5C3B}"/>
              </a:ext>
            </a:extLst>
          </p:cNvPr>
          <p:cNvCxnSpPr>
            <a:cxnSpLocks/>
            <a:stCxn id="8" idx="2"/>
            <a:endCxn id="4" idx="6"/>
          </p:cNvCxnSpPr>
          <p:nvPr/>
        </p:nvCxnSpPr>
        <p:spPr>
          <a:xfrm flipH="1" flipV="1">
            <a:off x="4572000" y="2750575"/>
            <a:ext cx="1641987" cy="1693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A439E2-71B9-6FA5-2FD8-83214ED1BA9C}"/>
              </a:ext>
            </a:extLst>
          </p:cNvPr>
          <p:cNvCxnSpPr>
            <a:cxnSpLocks/>
            <a:stCxn id="9" idx="7"/>
            <a:endCxn id="8" idx="3"/>
          </p:cNvCxnSpPr>
          <p:nvPr/>
        </p:nvCxnSpPr>
        <p:spPr>
          <a:xfrm flipV="1">
            <a:off x="4924705" y="3092025"/>
            <a:ext cx="1369196" cy="12833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CCB11C-EB3F-788F-4CF5-CC968CC63413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6472084" y="3163333"/>
            <a:ext cx="0" cy="9561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97B639D-CAD6-8899-1883-2612AF3D2AB8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 flipV="1">
            <a:off x="5004619" y="4362838"/>
            <a:ext cx="1194620" cy="1845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7C22EAF-CAF2-1D80-030D-7CA0FA28831A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6699374" y="3601073"/>
            <a:ext cx="1236514" cy="737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25F5C80-4C49-AC8D-281B-AC540F16239E}"/>
              </a:ext>
            </a:extLst>
          </p:cNvPr>
          <p:cNvSpPr txBox="1"/>
          <p:nvPr/>
        </p:nvSpPr>
        <p:spPr>
          <a:xfrm>
            <a:off x="8878529" y="1297858"/>
            <a:ext cx="1002890" cy="39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0208E7-DB06-CB50-15D8-0978C964EF19}"/>
              </a:ext>
            </a:extLst>
          </p:cNvPr>
          <p:cNvSpPr txBox="1"/>
          <p:nvPr/>
        </p:nvSpPr>
        <p:spPr>
          <a:xfrm>
            <a:off x="9030929" y="1450258"/>
            <a:ext cx="1002890" cy="39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DFFC11-44B1-54F3-E65E-49E6389EC814}"/>
              </a:ext>
            </a:extLst>
          </p:cNvPr>
          <p:cNvSpPr txBox="1"/>
          <p:nvPr/>
        </p:nvSpPr>
        <p:spPr>
          <a:xfrm>
            <a:off x="9183329" y="1602658"/>
            <a:ext cx="1002890" cy="39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A5733D-FBBB-BABA-19C8-11B5EBF8DC85}"/>
              </a:ext>
            </a:extLst>
          </p:cNvPr>
          <p:cNvSpPr txBox="1"/>
          <p:nvPr/>
        </p:nvSpPr>
        <p:spPr>
          <a:xfrm>
            <a:off x="6293901" y="2315907"/>
            <a:ext cx="100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C2F7B2-296D-1246-C36F-B71B4136324C}"/>
              </a:ext>
            </a:extLst>
          </p:cNvPr>
          <p:cNvSpPr txBox="1"/>
          <p:nvPr/>
        </p:nvSpPr>
        <p:spPr>
          <a:xfrm>
            <a:off x="3993153" y="2124836"/>
            <a:ext cx="77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E1F333-0D39-6BD9-525B-C8E3D23336F1}"/>
              </a:ext>
            </a:extLst>
          </p:cNvPr>
          <p:cNvSpPr txBox="1"/>
          <p:nvPr/>
        </p:nvSpPr>
        <p:spPr>
          <a:xfrm>
            <a:off x="2715534" y="3733169"/>
            <a:ext cx="100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90F3EA-F6C0-A4AD-D42D-85F12F1BFE7E}"/>
              </a:ext>
            </a:extLst>
          </p:cNvPr>
          <p:cNvSpPr txBox="1"/>
          <p:nvPr/>
        </p:nvSpPr>
        <p:spPr>
          <a:xfrm>
            <a:off x="4299155" y="4817350"/>
            <a:ext cx="100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116C23-7E71-649D-BA6B-20E15D8FA705}"/>
              </a:ext>
            </a:extLst>
          </p:cNvPr>
          <p:cNvSpPr txBox="1"/>
          <p:nvPr/>
        </p:nvSpPr>
        <p:spPr>
          <a:xfrm>
            <a:off x="6059129" y="4648670"/>
            <a:ext cx="100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923A71-2556-31F0-97EC-F371BDB3F3E5}"/>
              </a:ext>
            </a:extLst>
          </p:cNvPr>
          <p:cNvSpPr txBox="1"/>
          <p:nvPr/>
        </p:nvSpPr>
        <p:spPr>
          <a:xfrm>
            <a:off x="7689453" y="3756670"/>
            <a:ext cx="100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C6E457-823E-12F5-D5BB-F6BB60A24979}"/>
              </a:ext>
            </a:extLst>
          </p:cNvPr>
          <p:cNvSpPr txBox="1"/>
          <p:nvPr/>
        </p:nvSpPr>
        <p:spPr>
          <a:xfrm>
            <a:off x="7404100" y="5018002"/>
            <a:ext cx="4305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{A,C,F}             5+10+2=17</a:t>
            </a:r>
          </a:p>
          <a:p>
            <a:endParaRPr lang="en-US" dirty="0"/>
          </a:p>
          <a:p>
            <a:r>
              <a:rPr lang="en-US" dirty="0"/>
              <a:t>{B,E,F}              2+15+2=19</a:t>
            </a:r>
          </a:p>
          <a:p>
            <a:endParaRPr lang="en-US" dirty="0"/>
          </a:p>
          <a:p>
            <a:r>
              <a:rPr lang="en-US" dirty="0"/>
              <a:t>{A,D}     	        5+20=</a:t>
            </a:r>
            <a:r>
              <a:rPr lang="en-US" b="1" dirty="0">
                <a:solidFill>
                  <a:srgbClr val="FF0000"/>
                </a:solidFill>
              </a:rPr>
              <a:t>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53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EC5F5-4573-16A5-AFEF-ED5711C3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2CFBA2F-EFFE-26F9-8793-4A5F0AF6943E}"/>
              </a:ext>
            </a:extLst>
          </p:cNvPr>
          <p:cNvSpPr/>
          <p:nvPr/>
        </p:nvSpPr>
        <p:spPr>
          <a:xfrm>
            <a:off x="4026310" y="2507226"/>
            <a:ext cx="545690" cy="48669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9BD113-6717-F173-0B7C-49DD99AD0A9A}"/>
              </a:ext>
            </a:extLst>
          </p:cNvPr>
          <p:cNvSpPr/>
          <p:nvPr/>
        </p:nvSpPr>
        <p:spPr>
          <a:xfrm>
            <a:off x="2718619" y="4060723"/>
            <a:ext cx="545690" cy="4866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4BCCDC-0441-C9DA-1EA1-5260F92A122A}"/>
              </a:ext>
            </a:extLst>
          </p:cNvPr>
          <p:cNvSpPr/>
          <p:nvPr/>
        </p:nvSpPr>
        <p:spPr>
          <a:xfrm>
            <a:off x="6213987" y="2676603"/>
            <a:ext cx="545690" cy="4866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205808-C023-F07A-09D5-17966BCD38CA}"/>
              </a:ext>
            </a:extLst>
          </p:cNvPr>
          <p:cNvSpPr/>
          <p:nvPr/>
        </p:nvSpPr>
        <p:spPr>
          <a:xfrm>
            <a:off x="4458929" y="4304071"/>
            <a:ext cx="545690" cy="4866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A69C8F-017C-AFB4-489B-A892DC0E22F8}"/>
              </a:ext>
            </a:extLst>
          </p:cNvPr>
          <p:cNvSpPr/>
          <p:nvPr/>
        </p:nvSpPr>
        <p:spPr>
          <a:xfrm>
            <a:off x="6199239" y="4119489"/>
            <a:ext cx="545690" cy="48669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5F2708-E60A-E9A5-5AFB-2741FD506446}"/>
              </a:ext>
            </a:extLst>
          </p:cNvPr>
          <p:cNvSpPr/>
          <p:nvPr/>
        </p:nvSpPr>
        <p:spPr>
          <a:xfrm>
            <a:off x="7855974" y="3185651"/>
            <a:ext cx="545690" cy="4866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A395F0-FF72-C68F-7CC2-D2179440C21E}"/>
              </a:ext>
            </a:extLst>
          </p:cNvPr>
          <p:cNvCxnSpPr>
            <a:cxnSpLocks/>
            <a:stCxn id="7" idx="7"/>
            <a:endCxn id="4" idx="3"/>
          </p:cNvCxnSpPr>
          <p:nvPr/>
        </p:nvCxnSpPr>
        <p:spPr>
          <a:xfrm flipV="1">
            <a:off x="3184395" y="2922648"/>
            <a:ext cx="921829" cy="1209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1E090F-F4B9-0B85-5F7D-74BFFABDD44F}"/>
              </a:ext>
            </a:extLst>
          </p:cNvPr>
          <p:cNvCxnSpPr>
            <a:cxnSpLocks/>
            <a:stCxn id="7" idx="5"/>
            <a:endCxn id="9" idx="2"/>
          </p:cNvCxnSpPr>
          <p:nvPr/>
        </p:nvCxnSpPr>
        <p:spPr>
          <a:xfrm>
            <a:off x="3184395" y="4476145"/>
            <a:ext cx="1274534" cy="71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FA387AA-879A-B390-2AA9-6E899B76672E}"/>
              </a:ext>
            </a:extLst>
          </p:cNvPr>
          <p:cNvCxnSpPr>
            <a:cxnSpLocks/>
            <a:stCxn id="8" idx="2"/>
            <a:endCxn id="4" idx="6"/>
          </p:cNvCxnSpPr>
          <p:nvPr/>
        </p:nvCxnSpPr>
        <p:spPr>
          <a:xfrm flipH="1" flipV="1">
            <a:off x="4572000" y="2750575"/>
            <a:ext cx="1641987" cy="1693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4523C0-2E53-3AF5-A592-6BED2F26E86D}"/>
              </a:ext>
            </a:extLst>
          </p:cNvPr>
          <p:cNvCxnSpPr>
            <a:cxnSpLocks/>
            <a:stCxn id="9" idx="7"/>
            <a:endCxn id="8" idx="3"/>
          </p:cNvCxnSpPr>
          <p:nvPr/>
        </p:nvCxnSpPr>
        <p:spPr>
          <a:xfrm flipV="1">
            <a:off x="4924705" y="3092025"/>
            <a:ext cx="1369196" cy="12833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BC873E-6396-5D09-455D-41D5213C3089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6472084" y="3163333"/>
            <a:ext cx="0" cy="9561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12FC967-BAA5-0A2E-DC9B-548F0DE05C40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 flipV="1">
            <a:off x="5004619" y="4362838"/>
            <a:ext cx="1194620" cy="1845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72901C-3067-7387-AE2D-17ECFC43CFF8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6699374" y="3601073"/>
            <a:ext cx="1236514" cy="737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90C232D-1B3F-0DA0-DA10-8A4E2D3DA960}"/>
              </a:ext>
            </a:extLst>
          </p:cNvPr>
          <p:cNvSpPr txBox="1"/>
          <p:nvPr/>
        </p:nvSpPr>
        <p:spPr>
          <a:xfrm>
            <a:off x="1522770" y="5685494"/>
            <a:ext cx="80194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</a:rPr>
              <a:t>Maximum weight independent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set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LMSans12-Regular-Identity-H"/>
              </a:rPr>
              <a:t>in the above graph: </a:t>
            </a:r>
            <a:r>
              <a:rPr lang="en-US" dirty="0"/>
              <a:t> {A,D}</a:t>
            </a:r>
            <a:br>
              <a:rPr lang="en-US" dirty="0"/>
            </a:b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8039D1-B0DF-ADC4-4C78-C1D33F016CFD}"/>
              </a:ext>
            </a:extLst>
          </p:cNvPr>
          <p:cNvSpPr txBox="1"/>
          <p:nvPr/>
        </p:nvSpPr>
        <p:spPr>
          <a:xfrm>
            <a:off x="8878529" y="1297858"/>
            <a:ext cx="1002890" cy="39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0D3BE4-A526-142B-B24F-A903224E00D9}"/>
              </a:ext>
            </a:extLst>
          </p:cNvPr>
          <p:cNvSpPr txBox="1"/>
          <p:nvPr/>
        </p:nvSpPr>
        <p:spPr>
          <a:xfrm>
            <a:off x="9030929" y="1450258"/>
            <a:ext cx="1002890" cy="39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5F874B-8335-DCD4-1253-FD8839E3386F}"/>
              </a:ext>
            </a:extLst>
          </p:cNvPr>
          <p:cNvSpPr txBox="1"/>
          <p:nvPr/>
        </p:nvSpPr>
        <p:spPr>
          <a:xfrm>
            <a:off x="9183329" y="1602658"/>
            <a:ext cx="1002890" cy="39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023793-CDAA-D547-6F05-D4993397ECED}"/>
              </a:ext>
            </a:extLst>
          </p:cNvPr>
          <p:cNvSpPr txBox="1"/>
          <p:nvPr/>
        </p:nvSpPr>
        <p:spPr>
          <a:xfrm>
            <a:off x="6293901" y="2315907"/>
            <a:ext cx="100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CFBAE9-57B7-1E56-88E1-A7B10B3E55E2}"/>
              </a:ext>
            </a:extLst>
          </p:cNvPr>
          <p:cNvSpPr txBox="1"/>
          <p:nvPr/>
        </p:nvSpPr>
        <p:spPr>
          <a:xfrm>
            <a:off x="3993153" y="2124836"/>
            <a:ext cx="77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953023-6C85-3560-9C7B-5A24BC2D4932}"/>
              </a:ext>
            </a:extLst>
          </p:cNvPr>
          <p:cNvSpPr txBox="1"/>
          <p:nvPr/>
        </p:nvSpPr>
        <p:spPr>
          <a:xfrm>
            <a:off x="2715534" y="3733169"/>
            <a:ext cx="100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08B761-FC10-18CA-50AB-A833BDA63B1D}"/>
              </a:ext>
            </a:extLst>
          </p:cNvPr>
          <p:cNvSpPr txBox="1"/>
          <p:nvPr/>
        </p:nvSpPr>
        <p:spPr>
          <a:xfrm>
            <a:off x="4299155" y="4817350"/>
            <a:ext cx="100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8610E9-0320-EC01-E81D-427B07A84212}"/>
              </a:ext>
            </a:extLst>
          </p:cNvPr>
          <p:cNvSpPr txBox="1"/>
          <p:nvPr/>
        </p:nvSpPr>
        <p:spPr>
          <a:xfrm>
            <a:off x="6059129" y="4648670"/>
            <a:ext cx="100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481507-139C-0E99-8548-1EE85C8DD883}"/>
              </a:ext>
            </a:extLst>
          </p:cNvPr>
          <p:cNvSpPr txBox="1"/>
          <p:nvPr/>
        </p:nvSpPr>
        <p:spPr>
          <a:xfrm>
            <a:off x="7689453" y="3756670"/>
            <a:ext cx="100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8F4C275-F1DE-424C-B6C1-A4A1B43C435A}"/>
              </a:ext>
            </a:extLst>
          </p:cNvPr>
          <p:cNvSpPr txBox="1">
            <a:spLocks/>
          </p:cNvSpPr>
          <p:nvPr/>
        </p:nvSpPr>
        <p:spPr>
          <a:xfrm>
            <a:off x="0" y="-72926"/>
            <a:ext cx="10515600" cy="1021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MWIS for General Graph</a:t>
            </a:r>
          </a:p>
        </p:txBody>
      </p:sp>
    </p:spTree>
    <p:extLst>
      <p:ext uri="{BB962C8B-B14F-4D97-AF65-F5344CB8AC3E}">
        <p14:creationId xmlns:p14="http://schemas.microsoft.com/office/powerpoint/2010/main" val="4033194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B5301-E0EE-C066-E339-77C6D2B7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699"/>
            <a:ext cx="10515600" cy="898693"/>
          </a:xfrm>
        </p:spPr>
        <p:txBody>
          <a:bodyPr/>
          <a:lstStyle/>
          <a:p>
            <a:pPr algn="ctr"/>
            <a:r>
              <a:rPr lang="en-US" b="1" dirty="0"/>
              <a:t>Not Considering General Graph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E022C1E-C20A-033D-B022-BF50C8F93D19}"/>
              </a:ext>
            </a:extLst>
          </p:cNvPr>
          <p:cNvGrpSpPr/>
          <p:nvPr/>
        </p:nvGrpSpPr>
        <p:grpSpPr>
          <a:xfrm>
            <a:off x="2583972" y="2127454"/>
            <a:ext cx="5353661" cy="2603091"/>
            <a:chOff x="2613469" y="2127454"/>
            <a:chExt cx="5353661" cy="260309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D85924F-D0AD-4CC8-000C-DA476CE4C1E7}"/>
                </a:ext>
              </a:extLst>
            </p:cNvPr>
            <p:cNvSpPr/>
            <p:nvPr/>
          </p:nvSpPr>
          <p:spPr>
            <a:xfrm>
              <a:off x="4436813" y="2320245"/>
              <a:ext cx="417871" cy="465624"/>
            </a:xfrm>
            <a:prstGeom prst="ellipse">
              <a:avLst/>
            </a:prstGeom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7DABAE4-F742-3977-6843-ADD8DB9C20DF}"/>
                </a:ext>
              </a:extLst>
            </p:cNvPr>
            <p:cNvGrpSpPr/>
            <p:nvPr/>
          </p:nvGrpSpPr>
          <p:grpSpPr>
            <a:xfrm>
              <a:off x="2613469" y="2127454"/>
              <a:ext cx="5353661" cy="2603091"/>
              <a:chOff x="5552766" y="3025532"/>
              <a:chExt cx="5353661" cy="2603091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528E9D-88AE-E4EC-9AD1-27E2565AFD7A}"/>
                  </a:ext>
                </a:extLst>
              </p:cNvPr>
              <p:cNvSpPr/>
              <p:nvPr/>
            </p:nvSpPr>
            <p:spPr>
              <a:xfrm>
                <a:off x="9055510" y="3885151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5BF7F8B-DFDD-0835-8792-2AF6DA7E9F3C}"/>
                  </a:ext>
                </a:extLst>
              </p:cNvPr>
              <p:cNvSpPr/>
              <p:nvPr/>
            </p:nvSpPr>
            <p:spPr>
              <a:xfrm>
                <a:off x="10476267" y="3025532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D9EDA28-068C-D4A5-6353-2A8C6E7206B1}"/>
                  </a:ext>
                </a:extLst>
              </p:cNvPr>
              <p:cNvCxnSpPr>
                <a:endCxn id="13" idx="0"/>
              </p:cNvCxnSpPr>
              <p:nvPr/>
            </p:nvCxnSpPr>
            <p:spPr>
              <a:xfrm>
                <a:off x="5818237" y="3364732"/>
                <a:ext cx="1" cy="1798267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F6D735B-8290-5EBB-7E24-1B5B1729DA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1335" y="5167397"/>
                <a:ext cx="1738545" cy="354838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D14D9E1-7DD5-29F3-6E4C-8B8E50208DC9}"/>
                  </a:ext>
                </a:extLst>
              </p:cNvPr>
              <p:cNvCxnSpPr>
                <a:cxnSpLocks/>
                <a:stCxn id="5" idx="5"/>
                <a:endCxn id="7" idx="2"/>
              </p:cNvCxnSpPr>
              <p:nvPr/>
            </p:nvCxnSpPr>
            <p:spPr>
              <a:xfrm>
                <a:off x="7732785" y="3615758"/>
                <a:ext cx="1322725" cy="502205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CAD2388-A234-8456-D0AB-0896C9CF11A2}"/>
                  </a:ext>
                </a:extLst>
              </p:cNvPr>
              <p:cNvSpPr/>
              <p:nvPr/>
            </p:nvSpPr>
            <p:spPr>
              <a:xfrm>
                <a:off x="5552766" y="3072927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966D52E-B931-5E87-5ED6-409119C0A3E4}"/>
                  </a:ext>
                </a:extLst>
              </p:cNvPr>
              <p:cNvSpPr/>
              <p:nvPr/>
            </p:nvSpPr>
            <p:spPr>
              <a:xfrm>
                <a:off x="5609302" y="5162999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4224FCA-194C-E93A-6B3B-F00DAFDC0AA6}"/>
                  </a:ext>
                </a:extLst>
              </p:cNvPr>
              <p:cNvSpPr/>
              <p:nvPr/>
            </p:nvSpPr>
            <p:spPr>
              <a:xfrm>
                <a:off x="10488556" y="4700538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DC0E607-1CEB-6E04-FD59-C0EC028E2CE2}"/>
                  </a:ext>
                </a:extLst>
              </p:cNvPr>
              <p:cNvCxnSpPr>
                <a:cxnSpLocks/>
                <a:stCxn id="12" idx="6"/>
                <a:endCxn id="5" idx="2"/>
              </p:cNvCxnSpPr>
              <p:nvPr/>
            </p:nvCxnSpPr>
            <p:spPr>
              <a:xfrm>
                <a:off x="5970637" y="3305739"/>
                <a:ext cx="1405473" cy="14539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E4BE106-DCDF-AE38-CC53-7027CDAD0EA6}"/>
                  </a:ext>
                </a:extLst>
              </p:cNvPr>
              <p:cNvCxnSpPr>
                <a:cxnSpLocks/>
                <a:stCxn id="5" idx="4"/>
              </p:cNvCxnSpPr>
              <p:nvPr/>
            </p:nvCxnSpPr>
            <p:spPr>
              <a:xfrm>
                <a:off x="7585046" y="3683947"/>
                <a:ext cx="58165" cy="1627414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B267BAD-2566-C946-4A97-8B85098EC897}"/>
                  </a:ext>
                </a:extLst>
              </p:cNvPr>
              <p:cNvCxnSpPr>
                <a:cxnSpLocks/>
                <a:stCxn id="5" idx="3"/>
              </p:cNvCxnSpPr>
              <p:nvPr/>
            </p:nvCxnSpPr>
            <p:spPr>
              <a:xfrm flipH="1">
                <a:off x="5970638" y="3615758"/>
                <a:ext cx="1466668" cy="169964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E79AE6C-807D-B88A-DF20-707116E9BE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84396" y="4930187"/>
                <a:ext cx="2913095" cy="225438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60BB0C7-5E39-6BB3-E2C8-096A6E35F442}"/>
                  </a:ext>
                </a:extLst>
              </p:cNvPr>
              <p:cNvCxnSpPr>
                <a:cxnSpLocks/>
                <a:stCxn id="8" idx="2"/>
                <a:endCxn id="7" idx="7"/>
              </p:cNvCxnSpPr>
              <p:nvPr/>
            </p:nvCxnSpPr>
            <p:spPr>
              <a:xfrm flipH="1">
                <a:off x="9412185" y="3258344"/>
                <a:ext cx="1064082" cy="69499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019BE4A-BD8C-48FD-62AC-3887BB4238E9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 flipH="1">
                <a:off x="7769413" y="4282586"/>
                <a:ext cx="1347293" cy="865152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1463A95D-2EDF-9C2A-5E7C-B94FBFDAAB23}"/>
              </a:ext>
            </a:extLst>
          </p:cNvPr>
          <p:cNvSpPr/>
          <p:nvPr/>
        </p:nvSpPr>
        <p:spPr>
          <a:xfrm>
            <a:off x="4501952" y="4055115"/>
            <a:ext cx="417871" cy="465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0B5818-ADB5-CB7C-70D7-0FE319A4B3A6}"/>
              </a:ext>
            </a:extLst>
          </p:cNvPr>
          <p:cNvCxnSpPr/>
          <p:nvPr/>
        </p:nvCxnSpPr>
        <p:spPr>
          <a:xfrm>
            <a:off x="7770244" y="2298636"/>
            <a:ext cx="1" cy="1798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7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86CC-3D0C-1455-02CF-759D5C411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332"/>
            <a:ext cx="10515600" cy="858900"/>
          </a:xfrm>
        </p:spPr>
        <p:txBody>
          <a:bodyPr/>
          <a:lstStyle/>
          <a:p>
            <a:pPr algn="ctr"/>
            <a:r>
              <a:rPr lang="en-US" b="1" dirty="0"/>
              <a:t>Not Considering General Graph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984D50-C5D7-EC09-57A5-E0B7E9D5DA0F}"/>
              </a:ext>
            </a:extLst>
          </p:cNvPr>
          <p:cNvGrpSpPr/>
          <p:nvPr/>
        </p:nvGrpSpPr>
        <p:grpSpPr>
          <a:xfrm>
            <a:off x="2760953" y="2127454"/>
            <a:ext cx="5353661" cy="2603091"/>
            <a:chOff x="2613469" y="2127454"/>
            <a:chExt cx="5353661" cy="260309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FD4C4B2-340D-A22B-00AC-299F6B147A39}"/>
                </a:ext>
              </a:extLst>
            </p:cNvPr>
            <p:cNvSpPr/>
            <p:nvPr/>
          </p:nvSpPr>
          <p:spPr>
            <a:xfrm>
              <a:off x="4436813" y="2320245"/>
              <a:ext cx="417871" cy="465624"/>
            </a:xfrm>
            <a:prstGeom prst="ellipse">
              <a:avLst/>
            </a:prstGeom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FDC105F-17C6-6701-6F16-45EC903B847E}"/>
                </a:ext>
              </a:extLst>
            </p:cNvPr>
            <p:cNvGrpSpPr/>
            <p:nvPr/>
          </p:nvGrpSpPr>
          <p:grpSpPr>
            <a:xfrm>
              <a:off x="2613469" y="2127454"/>
              <a:ext cx="5353661" cy="2603091"/>
              <a:chOff x="5552766" y="3025532"/>
              <a:chExt cx="5353661" cy="2603091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8133FDB-5609-C465-8294-23B07FD48536}"/>
                  </a:ext>
                </a:extLst>
              </p:cNvPr>
              <p:cNvSpPr/>
              <p:nvPr/>
            </p:nvSpPr>
            <p:spPr>
              <a:xfrm>
                <a:off x="9055510" y="3885151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CAE1E8F-FBE9-0646-CCBC-3C85E0DE34ED}"/>
                  </a:ext>
                </a:extLst>
              </p:cNvPr>
              <p:cNvSpPr/>
              <p:nvPr/>
            </p:nvSpPr>
            <p:spPr>
              <a:xfrm>
                <a:off x="10476267" y="3025532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6EA8B83-B35E-9738-F82B-7E9402FEDAC0}"/>
                  </a:ext>
                </a:extLst>
              </p:cNvPr>
              <p:cNvCxnSpPr>
                <a:cxnSpLocks/>
                <a:stCxn id="12" idx="4"/>
                <a:endCxn id="13" idx="0"/>
              </p:cNvCxnSpPr>
              <p:nvPr/>
            </p:nvCxnSpPr>
            <p:spPr>
              <a:xfrm>
                <a:off x="5761702" y="3538551"/>
                <a:ext cx="56536" cy="1624448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31BE880-405A-8749-197C-CE131F36D70F}"/>
                  </a:ext>
                </a:extLst>
              </p:cNvPr>
              <p:cNvCxnSpPr>
                <a:cxnSpLocks/>
                <a:stCxn id="21" idx="2"/>
                <a:endCxn id="13" idx="6"/>
              </p:cNvCxnSpPr>
              <p:nvPr/>
            </p:nvCxnSpPr>
            <p:spPr>
              <a:xfrm flipH="1">
                <a:off x="6027173" y="5155625"/>
                <a:ext cx="1407102" cy="240186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2EA5432-2BC4-4419-0CA7-BACFB18033CC}"/>
                  </a:ext>
                </a:extLst>
              </p:cNvPr>
              <p:cNvSpPr/>
              <p:nvPr/>
            </p:nvSpPr>
            <p:spPr>
              <a:xfrm>
                <a:off x="5552766" y="3072927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E5A3A55-E349-7506-CC59-CE627705B806}"/>
                  </a:ext>
                </a:extLst>
              </p:cNvPr>
              <p:cNvSpPr/>
              <p:nvPr/>
            </p:nvSpPr>
            <p:spPr>
              <a:xfrm>
                <a:off x="5609302" y="5162999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E2FCDEB-0052-815F-D865-3FF143838BC9}"/>
                  </a:ext>
                </a:extLst>
              </p:cNvPr>
              <p:cNvSpPr/>
              <p:nvPr/>
            </p:nvSpPr>
            <p:spPr>
              <a:xfrm>
                <a:off x="10488556" y="4700538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3C370DA-B5A6-9BBC-E029-3871F9126F92}"/>
                  </a:ext>
                </a:extLst>
              </p:cNvPr>
              <p:cNvCxnSpPr>
                <a:cxnSpLocks/>
                <a:stCxn id="5" idx="4"/>
              </p:cNvCxnSpPr>
              <p:nvPr/>
            </p:nvCxnSpPr>
            <p:spPr>
              <a:xfrm>
                <a:off x="7585046" y="3683947"/>
                <a:ext cx="58165" cy="1627414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717501E-AAF9-8B00-66FF-2F367F88A09D}"/>
                  </a:ext>
                </a:extLst>
              </p:cNvPr>
              <p:cNvCxnSpPr>
                <a:cxnSpLocks/>
                <a:stCxn id="14" idx="2"/>
              </p:cNvCxnSpPr>
              <p:nvPr/>
            </p:nvCxnSpPr>
            <p:spPr>
              <a:xfrm flipH="1">
                <a:off x="7784396" y="4933350"/>
                <a:ext cx="2704160" cy="222275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F9CFC8A-BA4D-A1D7-001E-C7E64C1D56DF}"/>
                  </a:ext>
                </a:extLst>
              </p:cNvPr>
              <p:cNvCxnSpPr>
                <a:cxnSpLocks/>
                <a:stCxn id="7" idx="3"/>
                <a:endCxn id="21" idx="7"/>
              </p:cNvCxnSpPr>
              <p:nvPr/>
            </p:nvCxnSpPr>
            <p:spPr>
              <a:xfrm flipH="1">
                <a:off x="7790950" y="4282586"/>
                <a:ext cx="1325756" cy="708416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23E107FD-39A0-2A8D-BAAE-E42532FCD18D}"/>
              </a:ext>
            </a:extLst>
          </p:cNvPr>
          <p:cNvSpPr/>
          <p:nvPr/>
        </p:nvSpPr>
        <p:spPr>
          <a:xfrm>
            <a:off x="4642462" y="4024735"/>
            <a:ext cx="417871" cy="465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EBCF65-8F89-E146-75F1-E3868A3D7CCB}"/>
              </a:ext>
            </a:extLst>
          </p:cNvPr>
          <p:cNvCxnSpPr>
            <a:cxnSpLocks/>
            <a:stCxn id="8" idx="4"/>
            <a:endCxn id="14" idx="0"/>
          </p:cNvCxnSpPr>
          <p:nvPr/>
        </p:nvCxnSpPr>
        <p:spPr>
          <a:xfrm>
            <a:off x="7893390" y="2593078"/>
            <a:ext cx="12289" cy="120938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02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6EC5F-8DB6-1E6D-641C-5979D3454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1BA0-8FB1-D39C-E20A-98D9EFFBA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04"/>
            <a:ext cx="10515600" cy="876049"/>
          </a:xfrm>
        </p:spPr>
        <p:txBody>
          <a:bodyPr/>
          <a:lstStyle/>
          <a:p>
            <a:pPr algn="ctr"/>
            <a:r>
              <a:rPr lang="en-US" b="1" dirty="0"/>
              <a:t>Not Considering General Graph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2D8D61-3B3B-AF95-4EEB-62FA6C117640}"/>
              </a:ext>
            </a:extLst>
          </p:cNvPr>
          <p:cNvGrpSpPr/>
          <p:nvPr/>
        </p:nvGrpSpPr>
        <p:grpSpPr>
          <a:xfrm>
            <a:off x="2613469" y="2127454"/>
            <a:ext cx="5353661" cy="2603091"/>
            <a:chOff x="2613469" y="2127454"/>
            <a:chExt cx="5353661" cy="260309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329AB66-8ECD-58DB-5FF4-7A621EE0F811}"/>
                </a:ext>
              </a:extLst>
            </p:cNvPr>
            <p:cNvSpPr/>
            <p:nvPr/>
          </p:nvSpPr>
          <p:spPr>
            <a:xfrm>
              <a:off x="4436813" y="2320245"/>
              <a:ext cx="417871" cy="465624"/>
            </a:xfrm>
            <a:prstGeom prst="ellipse">
              <a:avLst/>
            </a:prstGeom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79E2633-740D-4117-ABC6-8B65FD6DA909}"/>
                </a:ext>
              </a:extLst>
            </p:cNvPr>
            <p:cNvGrpSpPr/>
            <p:nvPr/>
          </p:nvGrpSpPr>
          <p:grpSpPr>
            <a:xfrm>
              <a:off x="2613469" y="2127454"/>
              <a:ext cx="5353661" cy="2603091"/>
              <a:chOff x="5552766" y="3025532"/>
              <a:chExt cx="5353661" cy="2603091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EED0795-379D-88D9-045F-E89D43A9CA66}"/>
                  </a:ext>
                </a:extLst>
              </p:cNvPr>
              <p:cNvSpPr/>
              <p:nvPr/>
            </p:nvSpPr>
            <p:spPr>
              <a:xfrm>
                <a:off x="9055510" y="3885151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CD04F42-B73B-74F7-B937-0107276014B5}"/>
                  </a:ext>
                </a:extLst>
              </p:cNvPr>
              <p:cNvSpPr/>
              <p:nvPr/>
            </p:nvSpPr>
            <p:spPr>
              <a:xfrm>
                <a:off x="10476267" y="3025532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705E933-43FC-3421-A14C-8AACD9DC81B1}"/>
                  </a:ext>
                </a:extLst>
              </p:cNvPr>
              <p:cNvCxnSpPr>
                <a:cxnSpLocks/>
                <a:stCxn id="12" idx="4"/>
                <a:endCxn id="13" idx="0"/>
              </p:cNvCxnSpPr>
              <p:nvPr/>
            </p:nvCxnSpPr>
            <p:spPr>
              <a:xfrm>
                <a:off x="5761702" y="3538551"/>
                <a:ext cx="56536" cy="1624448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F3B2C31-27C4-A758-EFE3-9FE943032691}"/>
                  </a:ext>
                </a:extLst>
              </p:cNvPr>
              <p:cNvCxnSpPr>
                <a:cxnSpLocks/>
                <a:stCxn id="21" idx="2"/>
                <a:endCxn id="13" idx="6"/>
              </p:cNvCxnSpPr>
              <p:nvPr/>
            </p:nvCxnSpPr>
            <p:spPr>
              <a:xfrm flipH="1">
                <a:off x="6027173" y="5186005"/>
                <a:ext cx="1414076" cy="209806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5C55CE9-680B-31DF-2B02-D521E131BEC9}"/>
                  </a:ext>
                </a:extLst>
              </p:cNvPr>
              <p:cNvSpPr/>
              <p:nvPr/>
            </p:nvSpPr>
            <p:spPr>
              <a:xfrm>
                <a:off x="5552766" y="3072927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792EAE21-7BF7-1CC7-CFC0-1E17EC46CD7E}"/>
                  </a:ext>
                </a:extLst>
              </p:cNvPr>
              <p:cNvSpPr/>
              <p:nvPr/>
            </p:nvSpPr>
            <p:spPr>
              <a:xfrm>
                <a:off x="5609302" y="5162999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1346E0C-1D1C-1522-C38F-59714F5A93DC}"/>
                  </a:ext>
                </a:extLst>
              </p:cNvPr>
              <p:cNvSpPr/>
              <p:nvPr/>
            </p:nvSpPr>
            <p:spPr>
              <a:xfrm>
                <a:off x="10488556" y="4700538"/>
                <a:ext cx="417871" cy="465624"/>
              </a:xfrm>
              <a:prstGeom prst="ellipse">
                <a:avLst/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5D599D8-36F8-D07B-139C-4A6D974AC23A}"/>
                  </a:ext>
                </a:extLst>
              </p:cNvPr>
              <p:cNvCxnSpPr>
                <a:cxnSpLocks/>
                <a:stCxn id="5" idx="4"/>
              </p:cNvCxnSpPr>
              <p:nvPr/>
            </p:nvCxnSpPr>
            <p:spPr>
              <a:xfrm>
                <a:off x="7585046" y="3683947"/>
                <a:ext cx="58165" cy="1627414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DD418456-BCC1-D63D-E789-1820AAA521DA}"/>
                  </a:ext>
                </a:extLst>
              </p:cNvPr>
              <p:cNvCxnSpPr>
                <a:cxnSpLocks/>
                <a:stCxn id="14" idx="2"/>
              </p:cNvCxnSpPr>
              <p:nvPr/>
            </p:nvCxnSpPr>
            <p:spPr>
              <a:xfrm flipH="1">
                <a:off x="7784396" y="4933350"/>
                <a:ext cx="2704160" cy="222275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E3A4C11-2DE2-B689-8001-55F30D70E95E}"/>
                  </a:ext>
                </a:extLst>
              </p:cNvPr>
              <p:cNvCxnSpPr>
                <a:cxnSpLocks/>
                <a:stCxn id="7" idx="3"/>
                <a:endCxn id="21" idx="7"/>
              </p:cNvCxnSpPr>
              <p:nvPr/>
            </p:nvCxnSpPr>
            <p:spPr>
              <a:xfrm flipH="1">
                <a:off x="7797924" y="4282586"/>
                <a:ext cx="1318782" cy="738796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DD7E6CAA-3668-0398-1985-1283679758F5}"/>
              </a:ext>
            </a:extLst>
          </p:cNvPr>
          <p:cNvSpPr/>
          <p:nvPr/>
        </p:nvSpPr>
        <p:spPr>
          <a:xfrm>
            <a:off x="4501952" y="4055115"/>
            <a:ext cx="417871" cy="465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F8E280-3D01-EB5F-C240-FEE7B9D1DBBE}"/>
              </a:ext>
            </a:extLst>
          </p:cNvPr>
          <p:cNvCxnSpPr>
            <a:cxnSpLocks/>
            <a:stCxn id="8" idx="4"/>
            <a:endCxn id="14" idx="0"/>
          </p:cNvCxnSpPr>
          <p:nvPr/>
        </p:nvCxnSpPr>
        <p:spPr>
          <a:xfrm>
            <a:off x="7745906" y="2593078"/>
            <a:ext cx="12289" cy="120938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52C9E232-B898-732F-E4C3-D2A329A6C19A}"/>
              </a:ext>
            </a:extLst>
          </p:cNvPr>
          <p:cNvSpPr/>
          <p:nvPr/>
        </p:nvSpPr>
        <p:spPr>
          <a:xfrm>
            <a:off x="2254591" y="1965997"/>
            <a:ext cx="1135626" cy="8833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8DBBE2-8891-D773-871C-45A2311A2DDD}"/>
              </a:ext>
            </a:extLst>
          </p:cNvPr>
          <p:cNvSpPr/>
          <p:nvPr/>
        </p:nvSpPr>
        <p:spPr>
          <a:xfrm>
            <a:off x="4087218" y="2103746"/>
            <a:ext cx="1135626" cy="8833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056517-2649-AA07-5DAF-F965C2E88F0A}"/>
              </a:ext>
            </a:extLst>
          </p:cNvPr>
          <p:cNvSpPr/>
          <p:nvPr/>
        </p:nvSpPr>
        <p:spPr>
          <a:xfrm>
            <a:off x="5781375" y="2826563"/>
            <a:ext cx="1135626" cy="8833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66B6420-602D-25EB-E2F3-450C2F4F7C85}"/>
              </a:ext>
            </a:extLst>
          </p:cNvPr>
          <p:cNvSpPr/>
          <p:nvPr/>
        </p:nvSpPr>
        <p:spPr>
          <a:xfrm>
            <a:off x="7190381" y="1943087"/>
            <a:ext cx="1135626" cy="88332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58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04DC7-B453-5FCE-FAB4-DB207E64D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337"/>
            <a:ext cx="10515600" cy="942105"/>
          </a:xfrm>
        </p:spPr>
        <p:txBody>
          <a:bodyPr/>
          <a:lstStyle/>
          <a:p>
            <a:pPr algn="ctr"/>
            <a:r>
              <a:rPr lang="en-US" b="1" dirty="0"/>
              <a:t>NP-hard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3ED29-AF1C-2600-341F-2DBF028F1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142"/>
            <a:ext cx="10515600" cy="50538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Non-deterministic Polynomial Time (NP)</a:t>
            </a:r>
            <a:r>
              <a:rPr lang="en-US" dirty="0"/>
              <a:t>: Problems in "NP" are ones where, if there is a solution, its correctness can be verified in polynomial time.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Why MWIS Is NP-hard?</a:t>
            </a:r>
          </a:p>
          <a:p>
            <a:r>
              <a:rPr lang="en-US" dirty="0"/>
              <a:t> Check all possible combinations of vertices to </a:t>
            </a:r>
            <a:r>
              <a:rPr lang="en-US" b="1" dirty="0">
                <a:solidFill>
                  <a:srgbClr val="FF0000"/>
                </a:solidFill>
              </a:rPr>
              <a:t>ensure no two are adjacent</a:t>
            </a:r>
            <a:r>
              <a:rPr lang="en-US" b="1" dirty="0"/>
              <a:t> </a:t>
            </a:r>
            <a:r>
              <a:rPr lang="en-US" dirty="0"/>
              <a:t>and that the </a:t>
            </a:r>
            <a:r>
              <a:rPr lang="en-US" b="1" i="1" dirty="0"/>
              <a:t>weight is maximized.</a:t>
            </a:r>
          </a:p>
          <a:p>
            <a:r>
              <a:rPr lang="en-US" dirty="0"/>
              <a:t>For large graphs, the </a:t>
            </a:r>
            <a:r>
              <a:rPr lang="en-US" b="1" dirty="0">
                <a:solidFill>
                  <a:srgbClr val="FF0000"/>
                </a:solidFill>
              </a:rPr>
              <a:t>number of combinations grows exponentially,</a:t>
            </a:r>
            <a:r>
              <a:rPr lang="en-US" dirty="0"/>
              <a:t> making the problem computationally infeasible to solve exactly in a reasonable amount of time.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Why Are Trees Special?</a:t>
            </a:r>
          </a:p>
          <a:p>
            <a:r>
              <a:rPr lang="en-US" dirty="0"/>
              <a:t>Can exploit their simpler structure (</a:t>
            </a:r>
            <a:r>
              <a:rPr lang="en-US" b="1" dirty="0">
                <a:solidFill>
                  <a:srgbClr val="FF0000"/>
                </a:solidFill>
              </a:rPr>
              <a:t>no cycles!) </a:t>
            </a:r>
            <a:r>
              <a:rPr lang="en-US" dirty="0"/>
              <a:t>to solve MWIS efficiently using dynamic programming.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755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E8F9D-37A8-BF68-F7C2-8336E2A19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655" y="19091"/>
            <a:ext cx="10515600" cy="1053309"/>
          </a:xfrm>
        </p:spPr>
        <p:txBody>
          <a:bodyPr/>
          <a:lstStyle/>
          <a:p>
            <a:pPr algn="ctr"/>
            <a:r>
              <a:rPr lang="en-US" b="1" dirty="0"/>
              <a:t>MWIS 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79B8F-64B6-E1D5-4B81-83FB9AC69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4820111"/>
          </a:xfrm>
        </p:spPr>
        <p:txBody>
          <a:bodyPr/>
          <a:lstStyle/>
          <a:p>
            <a:r>
              <a:rPr lang="en-US" b="1" dirty="0"/>
              <a:t>Objective</a:t>
            </a:r>
            <a:r>
              <a:rPr lang="en-US" dirty="0"/>
              <a:t>: To find the maximum-weight independent set for a tree where each node has an associated weight.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867FC0-89B7-32DB-2FD2-83B46EA72035}"/>
              </a:ext>
            </a:extLst>
          </p:cNvPr>
          <p:cNvGrpSpPr/>
          <p:nvPr/>
        </p:nvGrpSpPr>
        <p:grpSpPr>
          <a:xfrm>
            <a:off x="1020934" y="3118853"/>
            <a:ext cx="3168319" cy="2053929"/>
            <a:chOff x="578482" y="2713703"/>
            <a:chExt cx="3168319" cy="205392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19FC985-260F-0D1C-AC09-F6DCA93DC342}"/>
                </a:ext>
              </a:extLst>
            </p:cNvPr>
            <p:cNvSpPr/>
            <p:nvPr/>
          </p:nvSpPr>
          <p:spPr>
            <a:xfrm>
              <a:off x="2286000" y="2713703"/>
              <a:ext cx="442452" cy="30971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6FDFC98-9305-0A2C-4BFC-37765C522811}"/>
                </a:ext>
              </a:extLst>
            </p:cNvPr>
            <p:cNvCxnSpPr>
              <a:stCxn id="4" idx="3"/>
            </p:cNvCxnSpPr>
            <p:nvPr/>
          </p:nvCxnSpPr>
          <p:spPr>
            <a:xfrm flipH="1">
              <a:off x="1091381" y="2978062"/>
              <a:ext cx="1259415" cy="138746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8C1CDDA-0AD1-B53F-BFD8-EF6D5FAADD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3388" y="3023419"/>
              <a:ext cx="569042" cy="14446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6E37FA-0358-FD0A-3FED-F0B7546E70AF}"/>
                </a:ext>
              </a:extLst>
            </p:cNvPr>
            <p:cNvCxnSpPr>
              <a:cxnSpLocks/>
              <a:stCxn id="4" idx="5"/>
            </p:cNvCxnSpPr>
            <p:nvPr/>
          </p:nvCxnSpPr>
          <p:spPr>
            <a:xfrm>
              <a:off x="2663656" y="2978062"/>
              <a:ext cx="849604" cy="14500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1AD7D78-2312-D83A-CD47-42BFFE1304B7}"/>
                </a:ext>
              </a:extLst>
            </p:cNvPr>
            <p:cNvCxnSpPr>
              <a:cxnSpLocks/>
            </p:cNvCxnSpPr>
            <p:nvPr/>
          </p:nvCxnSpPr>
          <p:spPr>
            <a:xfrm>
              <a:off x="2572022" y="2978062"/>
              <a:ext cx="470619" cy="15570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4487A0F-AACF-CEA2-F0DA-8D43F5FBD198}"/>
                </a:ext>
              </a:extLst>
            </p:cNvPr>
            <p:cNvSpPr/>
            <p:nvPr/>
          </p:nvSpPr>
          <p:spPr>
            <a:xfrm>
              <a:off x="935687" y="4335901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F23B437-D98E-ACE4-1BAA-C522ED8F1CFC}"/>
                </a:ext>
              </a:extLst>
            </p:cNvPr>
            <p:cNvSpPr/>
            <p:nvPr/>
          </p:nvSpPr>
          <p:spPr>
            <a:xfrm>
              <a:off x="1681730" y="4402948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43D210F-852F-2EDC-4257-B1C454777A72}"/>
                </a:ext>
              </a:extLst>
            </p:cNvPr>
            <p:cNvSpPr/>
            <p:nvPr/>
          </p:nvSpPr>
          <p:spPr>
            <a:xfrm>
              <a:off x="3357566" y="4365523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9440C3A-02D7-0113-688D-FAA05BFDE08A}"/>
                </a:ext>
              </a:extLst>
            </p:cNvPr>
            <p:cNvSpPr/>
            <p:nvPr/>
          </p:nvSpPr>
          <p:spPr>
            <a:xfrm>
              <a:off x="2860845" y="4479813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ultiplication Sign 27">
              <a:extLst>
                <a:ext uri="{FF2B5EF4-FFF2-40B4-BE49-F238E27FC236}">
                  <a16:creationId xmlns:a16="http://schemas.microsoft.com/office/drawing/2014/main" id="{90CC4158-54EB-0F11-C02C-7C61C82B0F69}"/>
                </a:ext>
              </a:extLst>
            </p:cNvPr>
            <p:cNvSpPr/>
            <p:nvPr/>
          </p:nvSpPr>
          <p:spPr>
            <a:xfrm>
              <a:off x="578482" y="4051841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Multiplication Sign 28">
              <a:extLst>
                <a:ext uri="{FF2B5EF4-FFF2-40B4-BE49-F238E27FC236}">
                  <a16:creationId xmlns:a16="http://schemas.microsoft.com/office/drawing/2014/main" id="{CACE8F3B-19FE-6F57-A2BE-C077A6B5639E}"/>
                </a:ext>
              </a:extLst>
            </p:cNvPr>
            <p:cNvSpPr/>
            <p:nvPr/>
          </p:nvSpPr>
          <p:spPr>
            <a:xfrm>
              <a:off x="1424076" y="4051841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Multiplication Sign 29">
              <a:extLst>
                <a:ext uri="{FF2B5EF4-FFF2-40B4-BE49-F238E27FC236}">
                  <a16:creationId xmlns:a16="http://schemas.microsoft.com/office/drawing/2014/main" id="{738D6B71-9A92-4BD6-EF1A-E8A0361ED4D2}"/>
                </a:ext>
              </a:extLst>
            </p:cNvPr>
            <p:cNvSpPr/>
            <p:nvPr/>
          </p:nvSpPr>
          <p:spPr>
            <a:xfrm>
              <a:off x="2564155" y="4140268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Multiplication Sign 30">
              <a:extLst>
                <a:ext uri="{FF2B5EF4-FFF2-40B4-BE49-F238E27FC236}">
                  <a16:creationId xmlns:a16="http://schemas.microsoft.com/office/drawing/2014/main" id="{DBA0B17F-ACD9-1002-4041-2BFD74694A03}"/>
                </a:ext>
              </a:extLst>
            </p:cNvPr>
            <p:cNvSpPr/>
            <p:nvPr/>
          </p:nvSpPr>
          <p:spPr>
            <a:xfrm>
              <a:off x="3435413" y="3800167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7963332-9718-12C7-E415-E0961AEE88BD}"/>
              </a:ext>
            </a:extLst>
          </p:cNvPr>
          <p:cNvSpPr/>
          <p:nvPr/>
        </p:nvSpPr>
        <p:spPr>
          <a:xfrm>
            <a:off x="2841005" y="2676557"/>
            <a:ext cx="555848" cy="405700"/>
          </a:xfrm>
          <a:custGeom>
            <a:avLst/>
            <a:gdLst>
              <a:gd name="connsiteX0" fmla="*/ 0 w 1318669"/>
              <a:gd name="connsiteY0" fmla="*/ 348244 h 613715"/>
              <a:gd name="connsiteX1" fmla="*/ 353962 w 1318669"/>
              <a:gd name="connsiteY1" fmla="*/ 613715 h 613715"/>
              <a:gd name="connsiteX2" fmla="*/ 353962 w 1318669"/>
              <a:gd name="connsiteY2" fmla="*/ 613715 h 613715"/>
              <a:gd name="connsiteX3" fmla="*/ 1253613 w 1318669"/>
              <a:gd name="connsiteY3" fmla="*/ 82773 h 613715"/>
              <a:gd name="connsiteX4" fmla="*/ 1268362 w 1318669"/>
              <a:gd name="connsiteY4" fmla="*/ 82773 h 613715"/>
              <a:gd name="connsiteX0" fmla="*/ 0 w 1418960"/>
              <a:gd name="connsiteY0" fmla="*/ 417566 h 683037"/>
              <a:gd name="connsiteX1" fmla="*/ 353962 w 1418960"/>
              <a:gd name="connsiteY1" fmla="*/ 683037 h 683037"/>
              <a:gd name="connsiteX2" fmla="*/ 353962 w 1418960"/>
              <a:gd name="connsiteY2" fmla="*/ 683037 h 683037"/>
              <a:gd name="connsiteX3" fmla="*/ 1253613 w 1418960"/>
              <a:gd name="connsiteY3" fmla="*/ 152095 h 683037"/>
              <a:gd name="connsiteX4" fmla="*/ 1418960 w 1418960"/>
              <a:gd name="connsiteY4" fmla="*/ 52772 h 68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8960" h="683037">
                <a:moveTo>
                  <a:pt x="0" y="417566"/>
                </a:moveTo>
                <a:lnTo>
                  <a:pt x="353962" y="683037"/>
                </a:lnTo>
                <a:lnTo>
                  <a:pt x="353962" y="683037"/>
                </a:lnTo>
                <a:lnTo>
                  <a:pt x="1253613" y="152095"/>
                </a:lnTo>
                <a:cubicBezTo>
                  <a:pt x="1406013" y="63605"/>
                  <a:pt x="1389463" y="-77506"/>
                  <a:pt x="1418960" y="52772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33B145B-E2EF-F2D8-645D-F4A77F422EFB}"/>
              </a:ext>
            </a:extLst>
          </p:cNvPr>
          <p:cNvSpPr/>
          <p:nvPr/>
        </p:nvSpPr>
        <p:spPr>
          <a:xfrm>
            <a:off x="8554497" y="2589200"/>
            <a:ext cx="558697" cy="2773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712725A-5A56-0F0D-912E-EFEC0529C854}"/>
              </a:ext>
            </a:extLst>
          </p:cNvPr>
          <p:cNvCxnSpPr>
            <a:cxnSpLocks/>
            <a:stCxn id="39" idx="3"/>
          </p:cNvCxnSpPr>
          <p:nvPr/>
        </p:nvCxnSpPr>
        <p:spPr>
          <a:xfrm flipH="1">
            <a:off x="7046015" y="2825950"/>
            <a:ext cx="1590301" cy="12425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9F45435-878E-1525-F63D-DA3812FD75FE}"/>
              </a:ext>
            </a:extLst>
          </p:cNvPr>
          <p:cNvCxnSpPr>
            <a:cxnSpLocks/>
          </p:cNvCxnSpPr>
          <p:nvPr/>
        </p:nvCxnSpPr>
        <p:spPr>
          <a:xfrm flipH="1">
            <a:off x="8033479" y="2866570"/>
            <a:ext cx="718546" cy="1293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187B4A5-8C61-479E-E3B2-095DEB5CBD6C}"/>
              </a:ext>
            </a:extLst>
          </p:cNvPr>
          <p:cNvCxnSpPr>
            <a:cxnSpLocks/>
            <a:stCxn id="39" idx="5"/>
          </p:cNvCxnSpPr>
          <p:nvPr/>
        </p:nvCxnSpPr>
        <p:spPr>
          <a:xfrm>
            <a:off x="9031374" y="2825950"/>
            <a:ext cx="1072820" cy="1298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8CE0B3B5-E847-C661-E2D6-23985A963F81}"/>
              </a:ext>
            </a:extLst>
          </p:cNvPr>
          <p:cNvSpPr/>
          <p:nvPr/>
        </p:nvSpPr>
        <p:spPr>
          <a:xfrm>
            <a:off x="6849416" y="4041979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26D49C1-F183-5BAF-8FC7-A56C0FA9C9EC}"/>
              </a:ext>
            </a:extLst>
          </p:cNvPr>
          <p:cNvSpPr/>
          <p:nvPr/>
        </p:nvSpPr>
        <p:spPr>
          <a:xfrm>
            <a:off x="7791467" y="4102024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F9CBAB2-6879-FCC8-6FE8-BDB54920CEF4}"/>
              </a:ext>
            </a:extLst>
          </p:cNvPr>
          <p:cNvSpPr/>
          <p:nvPr/>
        </p:nvSpPr>
        <p:spPr>
          <a:xfrm>
            <a:off x="9907595" y="4068507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Multiplication Sign 47">
            <a:extLst>
              <a:ext uri="{FF2B5EF4-FFF2-40B4-BE49-F238E27FC236}">
                <a16:creationId xmlns:a16="http://schemas.microsoft.com/office/drawing/2014/main" id="{969784FE-D328-EAFA-8981-A88881062508}"/>
              </a:ext>
            </a:extLst>
          </p:cNvPr>
          <p:cNvSpPr/>
          <p:nvPr/>
        </p:nvSpPr>
        <p:spPr>
          <a:xfrm>
            <a:off x="8633705" y="2083387"/>
            <a:ext cx="393199" cy="5618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016DCBFF-2449-E0AA-805E-D18FC8B58D5A}"/>
              </a:ext>
            </a:extLst>
          </p:cNvPr>
          <p:cNvSpPr/>
          <p:nvPr/>
        </p:nvSpPr>
        <p:spPr>
          <a:xfrm>
            <a:off x="6461499" y="4277598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A649A37A-DCB7-F132-F222-EA105EEBE7C7}"/>
              </a:ext>
            </a:extLst>
          </p:cNvPr>
          <p:cNvSpPr/>
          <p:nvPr/>
        </p:nvSpPr>
        <p:spPr>
          <a:xfrm>
            <a:off x="7516359" y="4352959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29FA2EF5-C1CD-4B6D-0B59-DF7C7F909DB0}"/>
              </a:ext>
            </a:extLst>
          </p:cNvPr>
          <p:cNvSpPr/>
          <p:nvPr/>
        </p:nvSpPr>
        <p:spPr>
          <a:xfrm>
            <a:off x="8645937" y="4374238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D2459F04-ECF7-E391-7093-83AF0A18C3A8}"/>
              </a:ext>
            </a:extLst>
          </p:cNvPr>
          <p:cNvSpPr/>
          <p:nvPr/>
        </p:nvSpPr>
        <p:spPr>
          <a:xfrm>
            <a:off x="9687985" y="4319443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55416C7-1857-12BA-1C1F-BF1036E095FC}"/>
              </a:ext>
            </a:extLst>
          </p:cNvPr>
          <p:cNvCxnSpPr>
            <a:cxnSpLocks/>
            <a:stCxn id="39" idx="4"/>
          </p:cNvCxnSpPr>
          <p:nvPr/>
        </p:nvCxnSpPr>
        <p:spPr>
          <a:xfrm>
            <a:off x="8833846" y="2866570"/>
            <a:ext cx="214730" cy="1320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C47DA310-1A8E-3D71-1852-3D644160D461}"/>
              </a:ext>
            </a:extLst>
          </p:cNvPr>
          <p:cNvSpPr/>
          <p:nvPr/>
        </p:nvSpPr>
        <p:spPr>
          <a:xfrm>
            <a:off x="8844666" y="4095250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D414457-F34A-7969-38B1-C43E999D767A}"/>
              </a:ext>
            </a:extLst>
          </p:cNvPr>
          <p:cNvSpPr/>
          <p:nvPr/>
        </p:nvSpPr>
        <p:spPr>
          <a:xfrm>
            <a:off x="6474583" y="3816061"/>
            <a:ext cx="977210" cy="778511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7E3BF92-B0BC-C43B-0AD3-80BDF121466A}"/>
              </a:ext>
            </a:extLst>
          </p:cNvPr>
          <p:cNvSpPr/>
          <p:nvPr/>
        </p:nvSpPr>
        <p:spPr>
          <a:xfrm>
            <a:off x="7547005" y="3867401"/>
            <a:ext cx="930362" cy="731217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9A8D895-8A84-E949-2E64-DE29A66933A6}"/>
              </a:ext>
            </a:extLst>
          </p:cNvPr>
          <p:cNvSpPr/>
          <p:nvPr/>
        </p:nvSpPr>
        <p:spPr>
          <a:xfrm>
            <a:off x="8689915" y="3867401"/>
            <a:ext cx="801470" cy="778511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84D7279-B815-4A00-F596-6DEE6880C3FB}"/>
              </a:ext>
            </a:extLst>
          </p:cNvPr>
          <p:cNvSpPr/>
          <p:nvPr/>
        </p:nvSpPr>
        <p:spPr>
          <a:xfrm>
            <a:off x="9711350" y="3816060"/>
            <a:ext cx="771595" cy="778511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6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666A4-9796-5CB1-AA2D-C6D65810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8443-9471-AB2F-E17D-B30C0218D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7" y="31455"/>
            <a:ext cx="10515600" cy="809901"/>
          </a:xfrm>
        </p:spPr>
        <p:txBody>
          <a:bodyPr/>
          <a:lstStyle/>
          <a:p>
            <a:pPr algn="ctr"/>
            <a:r>
              <a:rPr lang="en-US" b="1" dirty="0"/>
              <a:t>MWIS on Trees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8AC9145-D239-14BB-9A0A-5F38DBDFEF3F}"/>
              </a:ext>
            </a:extLst>
          </p:cNvPr>
          <p:cNvGrpSpPr/>
          <p:nvPr/>
        </p:nvGrpSpPr>
        <p:grpSpPr>
          <a:xfrm>
            <a:off x="1052574" y="2251328"/>
            <a:ext cx="3168319" cy="2053929"/>
            <a:chOff x="578482" y="2713703"/>
            <a:chExt cx="3168319" cy="205392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57ACF2B-95AC-6112-9AA3-1111DA04BDEE}"/>
                </a:ext>
              </a:extLst>
            </p:cNvPr>
            <p:cNvSpPr/>
            <p:nvPr/>
          </p:nvSpPr>
          <p:spPr>
            <a:xfrm>
              <a:off x="2286000" y="2713703"/>
              <a:ext cx="442452" cy="30971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68EA204-C4B3-FFB8-020A-E8B055F41026}"/>
                </a:ext>
              </a:extLst>
            </p:cNvPr>
            <p:cNvCxnSpPr>
              <a:stCxn id="4" idx="3"/>
            </p:cNvCxnSpPr>
            <p:nvPr/>
          </p:nvCxnSpPr>
          <p:spPr>
            <a:xfrm flipH="1">
              <a:off x="1091381" y="2978062"/>
              <a:ext cx="1259415" cy="138746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CC56C05-852F-5F2F-500A-62FEFD0971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3388" y="3023419"/>
              <a:ext cx="569042" cy="14446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7EA460E-BFC3-E46D-5B43-39BA5E491E42}"/>
                </a:ext>
              </a:extLst>
            </p:cNvPr>
            <p:cNvCxnSpPr>
              <a:cxnSpLocks/>
              <a:stCxn id="4" idx="5"/>
            </p:cNvCxnSpPr>
            <p:nvPr/>
          </p:nvCxnSpPr>
          <p:spPr>
            <a:xfrm>
              <a:off x="2663656" y="2978062"/>
              <a:ext cx="849604" cy="14500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54DA5FA-D947-0DA5-C903-C43676898995}"/>
                </a:ext>
              </a:extLst>
            </p:cNvPr>
            <p:cNvCxnSpPr>
              <a:cxnSpLocks/>
            </p:cNvCxnSpPr>
            <p:nvPr/>
          </p:nvCxnSpPr>
          <p:spPr>
            <a:xfrm>
              <a:off x="2572022" y="2978062"/>
              <a:ext cx="470619" cy="15570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98D071D-E108-CD62-B9B9-FE7BB6FF0988}"/>
                </a:ext>
              </a:extLst>
            </p:cNvPr>
            <p:cNvSpPr/>
            <p:nvPr/>
          </p:nvSpPr>
          <p:spPr>
            <a:xfrm>
              <a:off x="935687" y="4335901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5BFF57B-2310-E0BC-2834-B4D240EC0C94}"/>
                </a:ext>
              </a:extLst>
            </p:cNvPr>
            <p:cNvSpPr/>
            <p:nvPr/>
          </p:nvSpPr>
          <p:spPr>
            <a:xfrm>
              <a:off x="1681730" y="4402948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2B83B86-7816-444B-7D2F-3E13BE501DE8}"/>
                </a:ext>
              </a:extLst>
            </p:cNvPr>
            <p:cNvSpPr/>
            <p:nvPr/>
          </p:nvSpPr>
          <p:spPr>
            <a:xfrm>
              <a:off x="3357566" y="4365523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8583AC-158F-F4BE-0C4A-B91371E9E168}"/>
                </a:ext>
              </a:extLst>
            </p:cNvPr>
            <p:cNvSpPr/>
            <p:nvPr/>
          </p:nvSpPr>
          <p:spPr>
            <a:xfrm>
              <a:off x="2860845" y="4479813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ultiplication Sign 27">
              <a:extLst>
                <a:ext uri="{FF2B5EF4-FFF2-40B4-BE49-F238E27FC236}">
                  <a16:creationId xmlns:a16="http://schemas.microsoft.com/office/drawing/2014/main" id="{D788A5AD-0DF3-2D4A-ED90-A3BBC01550AD}"/>
                </a:ext>
              </a:extLst>
            </p:cNvPr>
            <p:cNvSpPr/>
            <p:nvPr/>
          </p:nvSpPr>
          <p:spPr>
            <a:xfrm>
              <a:off x="578482" y="4051841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Multiplication Sign 28">
              <a:extLst>
                <a:ext uri="{FF2B5EF4-FFF2-40B4-BE49-F238E27FC236}">
                  <a16:creationId xmlns:a16="http://schemas.microsoft.com/office/drawing/2014/main" id="{37052F9E-2F95-0A09-126E-79329B149238}"/>
                </a:ext>
              </a:extLst>
            </p:cNvPr>
            <p:cNvSpPr/>
            <p:nvPr/>
          </p:nvSpPr>
          <p:spPr>
            <a:xfrm>
              <a:off x="1424076" y="4051841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Multiplication Sign 29">
              <a:extLst>
                <a:ext uri="{FF2B5EF4-FFF2-40B4-BE49-F238E27FC236}">
                  <a16:creationId xmlns:a16="http://schemas.microsoft.com/office/drawing/2014/main" id="{EB277555-C780-CEC1-D2C4-1B8902E9C057}"/>
                </a:ext>
              </a:extLst>
            </p:cNvPr>
            <p:cNvSpPr/>
            <p:nvPr/>
          </p:nvSpPr>
          <p:spPr>
            <a:xfrm>
              <a:off x="2564155" y="4140268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Multiplication Sign 30">
              <a:extLst>
                <a:ext uri="{FF2B5EF4-FFF2-40B4-BE49-F238E27FC236}">
                  <a16:creationId xmlns:a16="http://schemas.microsoft.com/office/drawing/2014/main" id="{756C22C3-D2EC-4CFC-A10E-6AD2D3963802}"/>
                </a:ext>
              </a:extLst>
            </p:cNvPr>
            <p:cNvSpPr/>
            <p:nvPr/>
          </p:nvSpPr>
          <p:spPr>
            <a:xfrm>
              <a:off x="3435413" y="3800167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E5E7725-803E-2FBB-268E-2859912454B2}"/>
              </a:ext>
            </a:extLst>
          </p:cNvPr>
          <p:cNvSpPr/>
          <p:nvPr/>
        </p:nvSpPr>
        <p:spPr>
          <a:xfrm>
            <a:off x="3003856" y="1767370"/>
            <a:ext cx="555848" cy="405700"/>
          </a:xfrm>
          <a:custGeom>
            <a:avLst/>
            <a:gdLst>
              <a:gd name="connsiteX0" fmla="*/ 0 w 1318669"/>
              <a:gd name="connsiteY0" fmla="*/ 348244 h 613715"/>
              <a:gd name="connsiteX1" fmla="*/ 353962 w 1318669"/>
              <a:gd name="connsiteY1" fmla="*/ 613715 h 613715"/>
              <a:gd name="connsiteX2" fmla="*/ 353962 w 1318669"/>
              <a:gd name="connsiteY2" fmla="*/ 613715 h 613715"/>
              <a:gd name="connsiteX3" fmla="*/ 1253613 w 1318669"/>
              <a:gd name="connsiteY3" fmla="*/ 82773 h 613715"/>
              <a:gd name="connsiteX4" fmla="*/ 1268362 w 1318669"/>
              <a:gd name="connsiteY4" fmla="*/ 82773 h 613715"/>
              <a:gd name="connsiteX0" fmla="*/ 0 w 1418960"/>
              <a:gd name="connsiteY0" fmla="*/ 417566 h 683037"/>
              <a:gd name="connsiteX1" fmla="*/ 353962 w 1418960"/>
              <a:gd name="connsiteY1" fmla="*/ 683037 h 683037"/>
              <a:gd name="connsiteX2" fmla="*/ 353962 w 1418960"/>
              <a:gd name="connsiteY2" fmla="*/ 683037 h 683037"/>
              <a:gd name="connsiteX3" fmla="*/ 1253613 w 1418960"/>
              <a:gd name="connsiteY3" fmla="*/ 152095 h 683037"/>
              <a:gd name="connsiteX4" fmla="*/ 1418960 w 1418960"/>
              <a:gd name="connsiteY4" fmla="*/ 52772 h 68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8960" h="683037">
                <a:moveTo>
                  <a:pt x="0" y="417566"/>
                </a:moveTo>
                <a:lnTo>
                  <a:pt x="353962" y="683037"/>
                </a:lnTo>
                <a:lnTo>
                  <a:pt x="353962" y="683037"/>
                </a:lnTo>
                <a:lnTo>
                  <a:pt x="1253613" y="152095"/>
                </a:lnTo>
                <a:cubicBezTo>
                  <a:pt x="1406013" y="63605"/>
                  <a:pt x="1389463" y="-77506"/>
                  <a:pt x="1418960" y="52772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46FA0AC-5C88-3AB9-4AC0-EA644D88F36E}"/>
              </a:ext>
            </a:extLst>
          </p:cNvPr>
          <p:cNvSpPr/>
          <p:nvPr/>
        </p:nvSpPr>
        <p:spPr>
          <a:xfrm>
            <a:off x="8554497" y="2589200"/>
            <a:ext cx="558697" cy="2773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18E1F4A-EB1D-C00A-CE90-F022A424836C}"/>
              </a:ext>
            </a:extLst>
          </p:cNvPr>
          <p:cNvCxnSpPr>
            <a:cxnSpLocks/>
            <a:stCxn id="39" idx="3"/>
          </p:cNvCxnSpPr>
          <p:nvPr/>
        </p:nvCxnSpPr>
        <p:spPr>
          <a:xfrm flipH="1">
            <a:off x="7046015" y="2825950"/>
            <a:ext cx="1590301" cy="12425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65DEA17-4D0F-FF97-B37F-44908044BCD7}"/>
              </a:ext>
            </a:extLst>
          </p:cNvPr>
          <p:cNvCxnSpPr>
            <a:cxnSpLocks/>
          </p:cNvCxnSpPr>
          <p:nvPr/>
        </p:nvCxnSpPr>
        <p:spPr>
          <a:xfrm flipH="1">
            <a:off x="8033479" y="2866570"/>
            <a:ext cx="718546" cy="1293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8102A93-2299-A67F-C4F8-EDF1DD1AAD0F}"/>
              </a:ext>
            </a:extLst>
          </p:cNvPr>
          <p:cNvCxnSpPr>
            <a:cxnSpLocks/>
            <a:stCxn id="39" idx="5"/>
          </p:cNvCxnSpPr>
          <p:nvPr/>
        </p:nvCxnSpPr>
        <p:spPr>
          <a:xfrm>
            <a:off x="9031374" y="2825950"/>
            <a:ext cx="1072820" cy="1298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DB0952CA-227C-AAB0-4252-F1FF831BACE7}"/>
              </a:ext>
            </a:extLst>
          </p:cNvPr>
          <p:cNvSpPr/>
          <p:nvPr/>
        </p:nvSpPr>
        <p:spPr>
          <a:xfrm>
            <a:off x="6849416" y="4041979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9F937FB-FB29-B139-9CF2-A66096E93146}"/>
              </a:ext>
            </a:extLst>
          </p:cNvPr>
          <p:cNvSpPr/>
          <p:nvPr/>
        </p:nvSpPr>
        <p:spPr>
          <a:xfrm>
            <a:off x="7791467" y="4102024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511AEAF-75DD-D7CD-9BFF-6711F1094393}"/>
              </a:ext>
            </a:extLst>
          </p:cNvPr>
          <p:cNvSpPr/>
          <p:nvPr/>
        </p:nvSpPr>
        <p:spPr>
          <a:xfrm>
            <a:off x="9907595" y="4068507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Multiplication Sign 47">
            <a:extLst>
              <a:ext uri="{FF2B5EF4-FFF2-40B4-BE49-F238E27FC236}">
                <a16:creationId xmlns:a16="http://schemas.microsoft.com/office/drawing/2014/main" id="{DE7D65A6-5DBE-79F5-1E0E-E5F31458993A}"/>
              </a:ext>
            </a:extLst>
          </p:cNvPr>
          <p:cNvSpPr/>
          <p:nvPr/>
        </p:nvSpPr>
        <p:spPr>
          <a:xfrm>
            <a:off x="8633705" y="2083387"/>
            <a:ext cx="393199" cy="5618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2219531F-E4B3-9C3E-D33C-6B4EDD573AF2}"/>
              </a:ext>
            </a:extLst>
          </p:cNvPr>
          <p:cNvSpPr/>
          <p:nvPr/>
        </p:nvSpPr>
        <p:spPr>
          <a:xfrm>
            <a:off x="6461499" y="4277598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981E9D39-8B51-D9EF-4C72-F2823BE0DFBD}"/>
              </a:ext>
            </a:extLst>
          </p:cNvPr>
          <p:cNvSpPr/>
          <p:nvPr/>
        </p:nvSpPr>
        <p:spPr>
          <a:xfrm>
            <a:off x="7516359" y="4352959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1E949E87-A4BE-5669-F2D8-94BD282ADFAB}"/>
              </a:ext>
            </a:extLst>
          </p:cNvPr>
          <p:cNvSpPr/>
          <p:nvPr/>
        </p:nvSpPr>
        <p:spPr>
          <a:xfrm>
            <a:off x="8645937" y="4374238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38F83221-22F4-6E0C-5AA3-8384FEBBBE58}"/>
              </a:ext>
            </a:extLst>
          </p:cNvPr>
          <p:cNvSpPr/>
          <p:nvPr/>
        </p:nvSpPr>
        <p:spPr>
          <a:xfrm>
            <a:off x="9687985" y="4319443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C75563D-0307-92CA-50B7-0ACB291A490E}"/>
              </a:ext>
            </a:extLst>
          </p:cNvPr>
          <p:cNvCxnSpPr>
            <a:cxnSpLocks/>
            <a:stCxn id="39" idx="4"/>
          </p:cNvCxnSpPr>
          <p:nvPr/>
        </p:nvCxnSpPr>
        <p:spPr>
          <a:xfrm>
            <a:off x="8833846" y="2866570"/>
            <a:ext cx="214730" cy="1320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D7EA87D4-E5BA-319E-6182-BBB91DED9825}"/>
              </a:ext>
            </a:extLst>
          </p:cNvPr>
          <p:cNvSpPr/>
          <p:nvPr/>
        </p:nvSpPr>
        <p:spPr>
          <a:xfrm>
            <a:off x="8844666" y="4095250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DE7D6F6-360D-5C00-D8CC-1B89CB3DAC5B}"/>
              </a:ext>
            </a:extLst>
          </p:cNvPr>
          <p:cNvSpPr/>
          <p:nvPr/>
        </p:nvSpPr>
        <p:spPr>
          <a:xfrm>
            <a:off x="6474583" y="3816061"/>
            <a:ext cx="977210" cy="778511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AA6AF63-723E-4921-70C4-3D95121EB556}"/>
              </a:ext>
            </a:extLst>
          </p:cNvPr>
          <p:cNvSpPr/>
          <p:nvPr/>
        </p:nvSpPr>
        <p:spPr>
          <a:xfrm>
            <a:off x="7547005" y="3867401"/>
            <a:ext cx="930362" cy="731217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F2403AD-C4F1-0E5B-E646-8CC0F0A4B250}"/>
              </a:ext>
            </a:extLst>
          </p:cNvPr>
          <p:cNvSpPr/>
          <p:nvPr/>
        </p:nvSpPr>
        <p:spPr>
          <a:xfrm>
            <a:off x="8689915" y="3867401"/>
            <a:ext cx="801470" cy="778511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07FD68F-7E02-FD90-9B03-74A03070326F}"/>
              </a:ext>
            </a:extLst>
          </p:cNvPr>
          <p:cNvSpPr/>
          <p:nvPr/>
        </p:nvSpPr>
        <p:spPr>
          <a:xfrm>
            <a:off x="9711350" y="3816060"/>
            <a:ext cx="771595" cy="778511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BE22FBEC-A080-73BB-CE30-D0F3A3EE6C13}"/>
              </a:ext>
            </a:extLst>
          </p:cNvPr>
          <p:cNvSpPr/>
          <p:nvPr/>
        </p:nvSpPr>
        <p:spPr>
          <a:xfrm rot="5400000">
            <a:off x="8142110" y="4807143"/>
            <a:ext cx="591032" cy="333313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D234D7-9FB5-5230-C1E6-70E8D0E89F5D}"/>
              </a:ext>
            </a:extLst>
          </p:cNvPr>
          <p:cNvSpPr txBox="1"/>
          <p:nvPr/>
        </p:nvSpPr>
        <p:spPr>
          <a:xfrm>
            <a:off x="8799112" y="6506227"/>
            <a:ext cx="121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Disjoint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00B74E-9C25-6C9B-A060-A22BCD1529D1}"/>
              </a:ext>
            </a:extLst>
          </p:cNvPr>
          <p:cNvSpPr txBox="1"/>
          <p:nvPr/>
        </p:nvSpPr>
        <p:spPr>
          <a:xfrm>
            <a:off x="7046015" y="1253613"/>
            <a:ext cx="4413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The </a:t>
            </a:r>
            <a:r>
              <a:rPr lang="en-US" b="1" dirty="0">
                <a:solidFill>
                  <a:srgbClr val="FF0000"/>
                </a:solidFill>
              </a:rPr>
              <a:t>total number of Vertices </a:t>
            </a:r>
            <a:r>
              <a:rPr lang="en-US" dirty="0"/>
              <a:t>in the </a:t>
            </a:r>
            <a:r>
              <a:rPr lang="en-US" b="1" u="sng" dirty="0"/>
              <a:t>independent Set </a:t>
            </a:r>
            <a:r>
              <a:rPr lang="en-US" dirty="0"/>
              <a:t>is the sum of the number in each cluster. Ex: Here it could be 12</a:t>
            </a:r>
          </a:p>
        </p:txBody>
      </p:sp>
    </p:spTree>
    <p:extLst>
      <p:ext uri="{BB962C8B-B14F-4D97-AF65-F5344CB8AC3E}">
        <p14:creationId xmlns:p14="http://schemas.microsoft.com/office/powerpoint/2010/main" val="3458384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A526E-CE99-52BE-C269-5FB6FD69A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9D60-0063-E78D-2917-93D5DD0A0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193" y="5543"/>
            <a:ext cx="10515600" cy="784060"/>
          </a:xfrm>
        </p:spPr>
        <p:txBody>
          <a:bodyPr/>
          <a:lstStyle/>
          <a:p>
            <a:pPr algn="ctr"/>
            <a:r>
              <a:rPr lang="en-US" b="1" dirty="0"/>
              <a:t>MWIS on Trees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C247B36-EEC0-CCDA-BCE7-4D345B007F68}"/>
              </a:ext>
            </a:extLst>
          </p:cNvPr>
          <p:cNvGrpSpPr/>
          <p:nvPr/>
        </p:nvGrpSpPr>
        <p:grpSpPr>
          <a:xfrm>
            <a:off x="998855" y="2209498"/>
            <a:ext cx="3433060" cy="2053929"/>
            <a:chOff x="578482" y="2713703"/>
            <a:chExt cx="3433060" cy="205392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00E3F4B-E812-D7E9-4383-A86F7DFC99E2}"/>
                </a:ext>
              </a:extLst>
            </p:cNvPr>
            <p:cNvSpPr/>
            <p:nvPr/>
          </p:nvSpPr>
          <p:spPr>
            <a:xfrm>
              <a:off x="2286000" y="2713703"/>
              <a:ext cx="442452" cy="30971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B77D7C9-B468-3F1A-F5BC-25BB34D24206}"/>
                </a:ext>
              </a:extLst>
            </p:cNvPr>
            <p:cNvCxnSpPr>
              <a:stCxn id="4" idx="3"/>
            </p:cNvCxnSpPr>
            <p:nvPr/>
          </p:nvCxnSpPr>
          <p:spPr>
            <a:xfrm flipH="1">
              <a:off x="1091381" y="2978062"/>
              <a:ext cx="1259415" cy="138746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0370468-837F-D8B6-7DE6-3DEAA7BFB6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3388" y="3023419"/>
              <a:ext cx="569042" cy="14446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D01654B-D46D-5226-4288-AF4ECA9CDC45}"/>
                </a:ext>
              </a:extLst>
            </p:cNvPr>
            <p:cNvCxnSpPr>
              <a:cxnSpLocks/>
              <a:stCxn id="4" idx="5"/>
              <a:endCxn id="26" idx="1"/>
            </p:cNvCxnSpPr>
            <p:nvPr/>
          </p:nvCxnSpPr>
          <p:spPr>
            <a:xfrm>
              <a:off x="2663656" y="2978062"/>
              <a:ext cx="946951" cy="13965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9BC0C32-9F81-25CD-6A7D-F93EC0834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72022" y="2978062"/>
              <a:ext cx="470619" cy="15570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DD53660-624D-D365-DBAA-1CB65AD29F33}"/>
                </a:ext>
              </a:extLst>
            </p:cNvPr>
            <p:cNvSpPr/>
            <p:nvPr/>
          </p:nvSpPr>
          <p:spPr>
            <a:xfrm>
              <a:off x="935687" y="4335901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BBBE123-3CD5-8244-A6A0-FE4BCE2D7694}"/>
                </a:ext>
              </a:extLst>
            </p:cNvPr>
            <p:cNvSpPr/>
            <p:nvPr/>
          </p:nvSpPr>
          <p:spPr>
            <a:xfrm>
              <a:off x="1681730" y="4402948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CB2ABFF-A0F1-0B21-C83A-2F0B24D14D24}"/>
                </a:ext>
              </a:extLst>
            </p:cNvPr>
            <p:cNvSpPr/>
            <p:nvPr/>
          </p:nvSpPr>
          <p:spPr>
            <a:xfrm>
              <a:off x="3565005" y="4335901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B31A3C6-A094-49E1-E0EF-558C0E9A617A}"/>
                </a:ext>
              </a:extLst>
            </p:cNvPr>
            <p:cNvSpPr/>
            <p:nvPr/>
          </p:nvSpPr>
          <p:spPr>
            <a:xfrm>
              <a:off x="2860845" y="4479813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ultiplication Sign 27">
              <a:extLst>
                <a:ext uri="{FF2B5EF4-FFF2-40B4-BE49-F238E27FC236}">
                  <a16:creationId xmlns:a16="http://schemas.microsoft.com/office/drawing/2014/main" id="{DE8A8486-0226-E6DB-3F34-AC84B21D7C06}"/>
                </a:ext>
              </a:extLst>
            </p:cNvPr>
            <p:cNvSpPr/>
            <p:nvPr/>
          </p:nvSpPr>
          <p:spPr>
            <a:xfrm>
              <a:off x="578482" y="4051841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Multiplication Sign 28">
              <a:extLst>
                <a:ext uri="{FF2B5EF4-FFF2-40B4-BE49-F238E27FC236}">
                  <a16:creationId xmlns:a16="http://schemas.microsoft.com/office/drawing/2014/main" id="{1716CC0C-83AE-61C6-97EF-8F3826F8EA63}"/>
                </a:ext>
              </a:extLst>
            </p:cNvPr>
            <p:cNvSpPr/>
            <p:nvPr/>
          </p:nvSpPr>
          <p:spPr>
            <a:xfrm>
              <a:off x="1424076" y="4051841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Multiplication Sign 29">
              <a:extLst>
                <a:ext uri="{FF2B5EF4-FFF2-40B4-BE49-F238E27FC236}">
                  <a16:creationId xmlns:a16="http://schemas.microsoft.com/office/drawing/2014/main" id="{E388940F-9A14-DE55-DE82-5F5B27068237}"/>
                </a:ext>
              </a:extLst>
            </p:cNvPr>
            <p:cNvSpPr/>
            <p:nvPr/>
          </p:nvSpPr>
          <p:spPr>
            <a:xfrm>
              <a:off x="2564155" y="4140268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Multiplication Sign 30">
              <a:extLst>
                <a:ext uri="{FF2B5EF4-FFF2-40B4-BE49-F238E27FC236}">
                  <a16:creationId xmlns:a16="http://schemas.microsoft.com/office/drawing/2014/main" id="{4CC072E7-39E6-04E8-76A7-160C422D2F02}"/>
                </a:ext>
              </a:extLst>
            </p:cNvPr>
            <p:cNvSpPr/>
            <p:nvPr/>
          </p:nvSpPr>
          <p:spPr>
            <a:xfrm>
              <a:off x="3700154" y="3795352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73187DB-534F-9D17-37D2-EEBE866732C5}"/>
              </a:ext>
            </a:extLst>
          </p:cNvPr>
          <p:cNvSpPr/>
          <p:nvPr/>
        </p:nvSpPr>
        <p:spPr>
          <a:xfrm>
            <a:off x="3003856" y="1767370"/>
            <a:ext cx="555848" cy="405700"/>
          </a:xfrm>
          <a:custGeom>
            <a:avLst/>
            <a:gdLst>
              <a:gd name="connsiteX0" fmla="*/ 0 w 1318669"/>
              <a:gd name="connsiteY0" fmla="*/ 348244 h 613715"/>
              <a:gd name="connsiteX1" fmla="*/ 353962 w 1318669"/>
              <a:gd name="connsiteY1" fmla="*/ 613715 h 613715"/>
              <a:gd name="connsiteX2" fmla="*/ 353962 w 1318669"/>
              <a:gd name="connsiteY2" fmla="*/ 613715 h 613715"/>
              <a:gd name="connsiteX3" fmla="*/ 1253613 w 1318669"/>
              <a:gd name="connsiteY3" fmla="*/ 82773 h 613715"/>
              <a:gd name="connsiteX4" fmla="*/ 1268362 w 1318669"/>
              <a:gd name="connsiteY4" fmla="*/ 82773 h 613715"/>
              <a:gd name="connsiteX0" fmla="*/ 0 w 1418960"/>
              <a:gd name="connsiteY0" fmla="*/ 417566 h 683037"/>
              <a:gd name="connsiteX1" fmla="*/ 353962 w 1418960"/>
              <a:gd name="connsiteY1" fmla="*/ 683037 h 683037"/>
              <a:gd name="connsiteX2" fmla="*/ 353962 w 1418960"/>
              <a:gd name="connsiteY2" fmla="*/ 683037 h 683037"/>
              <a:gd name="connsiteX3" fmla="*/ 1253613 w 1418960"/>
              <a:gd name="connsiteY3" fmla="*/ 152095 h 683037"/>
              <a:gd name="connsiteX4" fmla="*/ 1418960 w 1418960"/>
              <a:gd name="connsiteY4" fmla="*/ 52772 h 68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8960" h="683037">
                <a:moveTo>
                  <a:pt x="0" y="417566"/>
                </a:moveTo>
                <a:lnTo>
                  <a:pt x="353962" y="683037"/>
                </a:lnTo>
                <a:lnTo>
                  <a:pt x="353962" y="683037"/>
                </a:lnTo>
                <a:lnTo>
                  <a:pt x="1253613" y="152095"/>
                </a:lnTo>
                <a:cubicBezTo>
                  <a:pt x="1406013" y="63605"/>
                  <a:pt x="1389463" y="-77506"/>
                  <a:pt x="1418960" y="52772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03B9E6C-624E-72E5-59B9-0E1453C65F46}"/>
              </a:ext>
            </a:extLst>
          </p:cNvPr>
          <p:cNvSpPr/>
          <p:nvPr/>
        </p:nvSpPr>
        <p:spPr>
          <a:xfrm>
            <a:off x="8554497" y="2589200"/>
            <a:ext cx="558697" cy="2773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A1A718-8122-F49D-6271-8CAE985DDEBF}"/>
              </a:ext>
            </a:extLst>
          </p:cNvPr>
          <p:cNvCxnSpPr>
            <a:cxnSpLocks/>
            <a:stCxn id="39" idx="3"/>
          </p:cNvCxnSpPr>
          <p:nvPr/>
        </p:nvCxnSpPr>
        <p:spPr>
          <a:xfrm flipH="1">
            <a:off x="7046015" y="2825950"/>
            <a:ext cx="1590301" cy="12425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A5623D7-A965-D03E-195F-3CCCF926755C}"/>
              </a:ext>
            </a:extLst>
          </p:cNvPr>
          <p:cNvCxnSpPr>
            <a:cxnSpLocks/>
          </p:cNvCxnSpPr>
          <p:nvPr/>
        </p:nvCxnSpPr>
        <p:spPr>
          <a:xfrm flipH="1">
            <a:off x="8033479" y="2866570"/>
            <a:ext cx="718546" cy="1293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7B28D60-8751-527D-02ED-F7A2CFEE6D4E}"/>
              </a:ext>
            </a:extLst>
          </p:cNvPr>
          <p:cNvCxnSpPr>
            <a:cxnSpLocks/>
            <a:stCxn id="39" idx="5"/>
          </p:cNvCxnSpPr>
          <p:nvPr/>
        </p:nvCxnSpPr>
        <p:spPr>
          <a:xfrm>
            <a:off x="9031374" y="2825950"/>
            <a:ext cx="1072820" cy="1298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C1D381CE-E767-7CF5-1B94-C96812FF2E7E}"/>
              </a:ext>
            </a:extLst>
          </p:cNvPr>
          <p:cNvSpPr/>
          <p:nvPr/>
        </p:nvSpPr>
        <p:spPr>
          <a:xfrm>
            <a:off x="6849416" y="4041979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C42D5C6-9B57-96E0-8DCC-E4805D36E542}"/>
              </a:ext>
            </a:extLst>
          </p:cNvPr>
          <p:cNvSpPr/>
          <p:nvPr/>
        </p:nvSpPr>
        <p:spPr>
          <a:xfrm>
            <a:off x="7791467" y="4102024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D1B8F7B-C817-D1DC-24EA-7216DBC87A5A}"/>
              </a:ext>
            </a:extLst>
          </p:cNvPr>
          <p:cNvSpPr/>
          <p:nvPr/>
        </p:nvSpPr>
        <p:spPr>
          <a:xfrm>
            <a:off x="9907595" y="4068507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Multiplication Sign 47">
            <a:extLst>
              <a:ext uri="{FF2B5EF4-FFF2-40B4-BE49-F238E27FC236}">
                <a16:creationId xmlns:a16="http://schemas.microsoft.com/office/drawing/2014/main" id="{BC022C56-610F-3F91-A504-068881155299}"/>
              </a:ext>
            </a:extLst>
          </p:cNvPr>
          <p:cNvSpPr/>
          <p:nvPr/>
        </p:nvSpPr>
        <p:spPr>
          <a:xfrm>
            <a:off x="8633705" y="2083387"/>
            <a:ext cx="393199" cy="5618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90B67CC0-9808-84CC-62B7-5CE3F2019875}"/>
              </a:ext>
            </a:extLst>
          </p:cNvPr>
          <p:cNvSpPr/>
          <p:nvPr/>
        </p:nvSpPr>
        <p:spPr>
          <a:xfrm>
            <a:off x="6461499" y="4277598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0FDE240C-4524-2115-B715-B155F34A1084}"/>
              </a:ext>
            </a:extLst>
          </p:cNvPr>
          <p:cNvSpPr/>
          <p:nvPr/>
        </p:nvSpPr>
        <p:spPr>
          <a:xfrm>
            <a:off x="7516359" y="4352959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D893EE14-459B-A4B2-02A1-A427EE11D65B}"/>
              </a:ext>
            </a:extLst>
          </p:cNvPr>
          <p:cNvSpPr/>
          <p:nvPr/>
        </p:nvSpPr>
        <p:spPr>
          <a:xfrm>
            <a:off x="8645937" y="4374238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E3FE5323-DB1C-2E88-09F9-4103F7A6DB64}"/>
              </a:ext>
            </a:extLst>
          </p:cNvPr>
          <p:cNvSpPr/>
          <p:nvPr/>
        </p:nvSpPr>
        <p:spPr>
          <a:xfrm>
            <a:off x="9687985" y="4319443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A5DB02A-5846-8DEA-88F8-49FC6E67F407}"/>
              </a:ext>
            </a:extLst>
          </p:cNvPr>
          <p:cNvCxnSpPr>
            <a:cxnSpLocks/>
            <a:stCxn id="39" idx="4"/>
          </p:cNvCxnSpPr>
          <p:nvPr/>
        </p:nvCxnSpPr>
        <p:spPr>
          <a:xfrm>
            <a:off x="8833846" y="2866570"/>
            <a:ext cx="214730" cy="1320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874269C5-26C3-4D1E-7664-0CDFBC242B09}"/>
              </a:ext>
            </a:extLst>
          </p:cNvPr>
          <p:cNvSpPr/>
          <p:nvPr/>
        </p:nvSpPr>
        <p:spPr>
          <a:xfrm>
            <a:off x="8844666" y="4095250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FCA532F-58C1-4818-0EDD-2B936E152208}"/>
              </a:ext>
            </a:extLst>
          </p:cNvPr>
          <p:cNvSpPr/>
          <p:nvPr/>
        </p:nvSpPr>
        <p:spPr>
          <a:xfrm>
            <a:off x="6474583" y="3816061"/>
            <a:ext cx="977210" cy="778511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A1DB52C-4FB3-32DB-244C-FEF9AF4D31FA}"/>
              </a:ext>
            </a:extLst>
          </p:cNvPr>
          <p:cNvSpPr/>
          <p:nvPr/>
        </p:nvSpPr>
        <p:spPr>
          <a:xfrm>
            <a:off x="7547005" y="3867401"/>
            <a:ext cx="930362" cy="731217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B3C482E-C46F-B59E-CD7B-B8424B877ACD}"/>
              </a:ext>
            </a:extLst>
          </p:cNvPr>
          <p:cNvSpPr/>
          <p:nvPr/>
        </p:nvSpPr>
        <p:spPr>
          <a:xfrm>
            <a:off x="8689915" y="3867401"/>
            <a:ext cx="801470" cy="778511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1E34CE7-2942-6440-528B-8A68E3C6EAC0}"/>
              </a:ext>
            </a:extLst>
          </p:cNvPr>
          <p:cNvSpPr/>
          <p:nvPr/>
        </p:nvSpPr>
        <p:spPr>
          <a:xfrm>
            <a:off x="9711350" y="3816060"/>
            <a:ext cx="771595" cy="778511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EB86CB64-52A1-5824-1B4B-66C516579B5B}"/>
              </a:ext>
            </a:extLst>
          </p:cNvPr>
          <p:cNvSpPr/>
          <p:nvPr/>
        </p:nvSpPr>
        <p:spPr>
          <a:xfrm rot="5400000">
            <a:off x="8142110" y="4807143"/>
            <a:ext cx="591032" cy="333313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09F11-1132-945B-872C-A202F61FFCE3}"/>
              </a:ext>
            </a:extLst>
          </p:cNvPr>
          <p:cNvSpPr txBox="1"/>
          <p:nvPr/>
        </p:nvSpPr>
        <p:spPr>
          <a:xfrm>
            <a:off x="8799112" y="6506227"/>
            <a:ext cx="121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Disjoint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C1B8FADA-AEDD-CE91-1D0D-8BC470A52B82}"/>
              </a:ext>
            </a:extLst>
          </p:cNvPr>
          <p:cNvSpPr/>
          <p:nvPr/>
        </p:nvSpPr>
        <p:spPr>
          <a:xfrm>
            <a:off x="1146676" y="4106569"/>
            <a:ext cx="727273" cy="1942379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0C28FD2-7173-17BC-12DF-7A64062C9679}"/>
              </a:ext>
            </a:extLst>
          </p:cNvPr>
          <p:cNvSpPr/>
          <p:nvPr/>
        </p:nvSpPr>
        <p:spPr>
          <a:xfrm>
            <a:off x="1920538" y="4233009"/>
            <a:ext cx="727273" cy="1942379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3AEFC845-F048-51A5-FF21-1BC1C23FB031}"/>
              </a:ext>
            </a:extLst>
          </p:cNvPr>
          <p:cNvSpPr/>
          <p:nvPr/>
        </p:nvSpPr>
        <p:spPr>
          <a:xfrm>
            <a:off x="3111884" y="4307957"/>
            <a:ext cx="727273" cy="1942379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A6BA831-CA6A-C8F8-2766-D967EBFC96EE}"/>
              </a:ext>
            </a:extLst>
          </p:cNvPr>
          <p:cNvSpPr/>
          <p:nvPr/>
        </p:nvSpPr>
        <p:spPr>
          <a:xfrm>
            <a:off x="3812571" y="4113121"/>
            <a:ext cx="772943" cy="1607122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610A3E-D989-6299-945B-D7FB08124265}"/>
              </a:ext>
            </a:extLst>
          </p:cNvPr>
          <p:cNvSpPr txBox="1"/>
          <p:nvPr/>
        </p:nvSpPr>
        <p:spPr>
          <a:xfrm>
            <a:off x="7046015" y="1253613"/>
            <a:ext cx="4413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The total number of Vertices in the independent Set is the sum of the number in each cluster. Ex: Here it could be 12</a:t>
            </a:r>
          </a:p>
        </p:txBody>
      </p:sp>
    </p:spTree>
    <p:extLst>
      <p:ext uri="{BB962C8B-B14F-4D97-AF65-F5344CB8AC3E}">
        <p14:creationId xmlns:p14="http://schemas.microsoft.com/office/powerpoint/2010/main" val="427448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3089C-7112-9265-B052-06594FDF0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DA869-C8EF-0F4E-608C-6356F986A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754"/>
            <a:ext cx="10515600" cy="1325563"/>
          </a:xfrm>
        </p:spPr>
        <p:txBody>
          <a:bodyPr/>
          <a:lstStyle/>
          <a:p>
            <a:r>
              <a:rPr lang="en-US" b="1" dirty="0"/>
              <a:t>MWIS on Trees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20014AB-06C3-9F71-0818-697219DC02A1}"/>
              </a:ext>
            </a:extLst>
          </p:cNvPr>
          <p:cNvGrpSpPr/>
          <p:nvPr/>
        </p:nvGrpSpPr>
        <p:grpSpPr>
          <a:xfrm>
            <a:off x="1052574" y="2251328"/>
            <a:ext cx="3168319" cy="2053929"/>
            <a:chOff x="578482" y="2713703"/>
            <a:chExt cx="3168319" cy="205392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4EEA710-E273-BCF5-0405-AA4EE8CE1109}"/>
                </a:ext>
              </a:extLst>
            </p:cNvPr>
            <p:cNvSpPr/>
            <p:nvPr/>
          </p:nvSpPr>
          <p:spPr>
            <a:xfrm>
              <a:off x="2286000" y="2713703"/>
              <a:ext cx="442452" cy="30971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DB5A93B-7227-2B9F-E1AA-F351D48227AB}"/>
                </a:ext>
              </a:extLst>
            </p:cNvPr>
            <p:cNvCxnSpPr>
              <a:stCxn id="4" idx="3"/>
            </p:cNvCxnSpPr>
            <p:nvPr/>
          </p:nvCxnSpPr>
          <p:spPr>
            <a:xfrm flipH="1">
              <a:off x="1091381" y="2978062"/>
              <a:ext cx="1259415" cy="138746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AD4C3F7-EEB3-43D6-3BCA-304F176580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3388" y="3023419"/>
              <a:ext cx="569042" cy="14446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31B1701-2244-5617-F3DD-AB0E891D3170}"/>
                </a:ext>
              </a:extLst>
            </p:cNvPr>
            <p:cNvCxnSpPr>
              <a:cxnSpLocks/>
              <a:stCxn id="4" idx="5"/>
            </p:cNvCxnSpPr>
            <p:nvPr/>
          </p:nvCxnSpPr>
          <p:spPr>
            <a:xfrm>
              <a:off x="2663656" y="2978062"/>
              <a:ext cx="849604" cy="14500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3E271D9-561F-F51D-2ABF-102EE3EDA64C}"/>
                </a:ext>
              </a:extLst>
            </p:cNvPr>
            <p:cNvCxnSpPr>
              <a:cxnSpLocks/>
            </p:cNvCxnSpPr>
            <p:nvPr/>
          </p:nvCxnSpPr>
          <p:spPr>
            <a:xfrm>
              <a:off x="2572022" y="2978062"/>
              <a:ext cx="470619" cy="15570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5F4A5BE-D442-2FF2-19C4-4681F1CFB794}"/>
                </a:ext>
              </a:extLst>
            </p:cNvPr>
            <p:cNvSpPr/>
            <p:nvPr/>
          </p:nvSpPr>
          <p:spPr>
            <a:xfrm>
              <a:off x="935687" y="4335901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CADEBC2-960F-B508-0A87-09D602743417}"/>
                </a:ext>
              </a:extLst>
            </p:cNvPr>
            <p:cNvSpPr/>
            <p:nvPr/>
          </p:nvSpPr>
          <p:spPr>
            <a:xfrm>
              <a:off x="1681730" y="4402948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469EE8A-56E4-6E1E-D840-8F522B8296C4}"/>
                </a:ext>
              </a:extLst>
            </p:cNvPr>
            <p:cNvSpPr/>
            <p:nvPr/>
          </p:nvSpPr>
          <p:spPr>
            <a:xfrm>
              <a:off x="3357566" y="4365523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3F41647-D63D-F66D-74CE-9750CE6A7CB6}"/>
                </a:ext>
              </a:extLst>
            </p:cNvPr>
            <p:cNvSpPr/>
            <p:nvPr/>
          </p:nvSpPr>
          <p:spPr>
            <a:xfrm>
              <a:off x="2860845" y="4479813"/>
              <a:ext cx="311388" cy="26435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ultiplication Sign 27">
              <a:extLst>
                <a:ext uri="{FF2B5EF4-FFF2-40B4-BE49-F238E27FC236}">
                  <a16:creationId xmlns:a16="http://schemas.microsoft.com/office/drawing/2014/main" id="{2E9BD949-7454-0675-70A7-BB50B100A7E0}"/>
                </a:ext>
              </a:extLst>
            </p:cNvPr>
            <p:cNvSpPr/>
            <p:nvPr/>
          </p:nvSpPr>
          <p:spPr>
            <a:xfrm>
              <a:off x="578482" y="4051841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Multiplication Sign 28">
              <a:extLst>
                <a:ext uri="{FF2B5EF4-FFF2-40B4-BE49-F238E27FC236}">
                  <a16:creationId xmlns:a16="http://schemas.microsoft.com/office/drawing/2014/main" id="{C97B2DC4-01C6-CFDA-020C-BE3D239C1838}"/>
                </a:ext>
              </a:extLst>
            </p:cNvPr>
            <p:cNvSpPr/>
            <p:nvPr/>
          </p:nvSpPr>
          <p:spPr>
            <a:xfrm>
              <a:off x="1424076" y="4051841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Multiplication Sign 29">
              <a:extLst>
                <a:ext uri="{FF2B5EF4-FFF2-40B4-BE49-F238E27FC236}">
                  <a16:creationId xmlns:a16="http://schemas.microsoft.com/office/drawing/2014/main" id="{3E44BDCD-12E8-5C20-D538-FEDE81D143D5}"/>
                </a:ext>
              </a:extLst>
            </p:cNvPr>
            <p:cNvSpPr/>
            <p:nvPr/>
          </p:nvSpPr>
          <p:spPr>
            <a:xfrm>
              <a:off x="2564155" y="4140268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Multiplication Sign 30">
              <a:extLst>
                <a:ext uri="{FF2B5EF4-FFF2-40B4-BE49-F238E27FC236}">
                  <a16:creationId xmlns:a16="http://schemas.microsoft.com/office/drawing/2014/main" id="{F98E6C9E-B043-858F-FC17-39A4530637AB}"/>
                </a:ext>
              </a:extLst>
            </p:cNvPr>
            <p:cNvSpPr/>
            <p:nvPr/>
          </p:nvSpPr>
          <p:spPr>
            <a:xfrm>
              <a:off x="3435413" y="3800167"/>
              <a:ext cx="311388" cy="6273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B02B1B7-3910-1CC5-DEA1-2AAA5AD3E7E8}"/>
              </a:ext>
            </a:extLst>
          </p:cNvPr>
          <p:cNvSpPr/>
          <p:nvPr/>
        </p:nvSpPr>
        <p:spPr>
          <a:xfrm>
            <a:off x="3003856" y="1767370"/>
            <a:ext cx="555848" cy="405700"/>
          </a:xfrm>
          <a:custGeom>
            <a:avLst/>
            <a:gdLst>
              <a:gd name="connsiteX0" fmla="*/ 0 w 1318669"/>
              <a:gd name="connsiteY0" fmla="*/ 348244 h 613715"/>
              <a:gd name="connsiteX1" fmla="*/ 353962 w 1318669"/>
              <a:gd name="connsiteY1" fmla="*/ 613715 h 613715"/>
              <a:gd name="connsiteX2" fmla="*/ 353962 w 1318669"/>
              <a:gd name="connsiteY2" fmla="*/ 613715 h 613715"/>
              <a:gd name="connsiteX3" fmla="*/ 1253613 w 1318669"/>
              <a:gd name="connsiteY3" fmla="*/ 82773 h 613715"/>
              <a:gd name="connsiteX4" fmla="*/ 1268362 w 1318669"/>
              <a:gd name="connsiteY4" fmla="*/ 82773 h 613715"/>
              <a:gd name="connsiteX0" fmla="*/ 0 w 1418960"/>
              <a:gd name="connsiteY0" fmla="*/ 417566 h 683037"/>
              <a:gd name="connsiteX1" fmla="*/ 353962 w 1418960"/>
              <a:gd name="connsiteY1" fmla="*/ 683037 h 683037"/>
              <a:gd name="connsiteX2" fmla="*/ 353962 w 1418960"/>
              <a:gd name="connsiteY2" fmla="*/ 683037 h 683037"/>
              <a:gd name="connsiteX3" fmla="*/ 1253613 w 1418960"/>
              <a:gd name="connsiteY3" fmla="*/ 152095 h 683037"/>
              <a:gd name="connsiteX4" fmla="*/ 1418960 w 1418960"/>
              <a:gd name="connsiteY4" fmla="*/ 52772 h 68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8960" h="683037">
                <a:moveTo>
                  <a:pt x="0" y="417566"/>
                </a:moveTo>
                <a:lnTo>
                  <a:pt x="353962" y="683037"/>
                </a:lnTo>
                <a:lnTo>
                  <a:pt x="353962" y="683037"/>
                </a:lnTo>
                <a:lnTo>
                  <a:pt x="1253613" y="152095"/>
                </a:lnTo>
                <a:cubicBezTo>
                  <a:pt x="1406013" y="63605"/>
                  <a:pt x="1389463" y="-77506"/>
                  <a:pt x="1418960" y="52772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3C837BA-DD5C-55BB-2767-8CD5BBB89B20}"/>
              </a:ext>
            </a:extLst>
          </p:cNvPr>
          <p:cNvSpPr/>
          <p:nvPr/>
        </p:nvSpPr>
        <p:spPr>
          <a:xfrm>
            <a:off x="8554497" y="2589200"/>
            <a:ext cx="558697" cy="27737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6E343A0-467C-2F1A-93C4-22D63B8EB2D4}"/>
              </a:ext>
            </a:extLst>
          </p:cNvPr>
          <p:cNvCxnSpPr>
            <a:cxnSpLocks/>
            <a:stCxn id="39" idx="3"/>
          </p:cNvCxnSpPr>
          <p:nvPr/>
        </p:nvCxnSpPr>
        <p:spPr>
          <a:xfrm flipH="1">
            <a:off x="7046015" y="2825950"/>
            <a:ext cx="1590301" cy="12425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E822AED-0716-2C3A-B224-5DB7D1FEE518}"/>
              </a:ext>
            </a:extLst>
          </p:cNvPr>
          <p:cNvCxnSpPr>
            <a:cxnSpLocks/>
          </p:cNvCxnSpPr>
          <p:nvPr/>
        </p:nvCxnSpPr>
        <p:spPr>
          <a:xfrm flipH="1">
            <a:off x="8033479" y="2866570"/>
            <a:ext cx="718546" cy="1293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A544D6-32D9-62D0-E0DC-5660023B830F}"/>
              </a:ext>
            </a:extLst>
          </p:cNvPr>
          <p:cNvCxnSpPr>
            <a:cxnSpLocks/>
            <a:stCxn id="39" idx="5"/>
          </p:cNvCxnSpPr>
          <p:nvPr/>
        </p:nvCxnSpPr>
        <p:spPr>
          <a:xfrm>
            <a:off x="9031374" y="2825950"/>
            <a:ext cx="1072820" cy="1298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8F44F59D-DECA-F8E3-813B-09FFC0ADD741}"/>
              </a:ext>
            </a:extLst>
          </p:cNvPr>
          <p:cNvSpPr/>
          <p:nvPr/>
        </p:nvSpPr>
        <p:spPr>
          <a:xfrm>
            <a:off x="6849416" y="4041979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6561948-F1B7-0DC7-9B58-DB79C701464C}"/>
              </a:ext>
            </a:extLst>
          </p:cNvPr>
          <p:cNvSpPr/>
          <p:nvPr/>
        </p:nvSpPr>
        <p:spPr>
          <a:xfrm>
            <a:off x="7791467" y="4102024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25E14F6-90E9-3E69-E02E-22D8AA7F6257}"/>
              </a:ext>
            </a:extLst>
          </p:cNvPr>
          <p:cNvSpPr/>
          <p:nvPr/>
        </p:nvSpPr>
        <p:spPr>
          <a:xfrm>
            <a:off x="9907595" y="4068507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BC3AF03D-F12A-B60A-E57D-8479BBA46108}"/>
              </a:ext>
            </a:extLst>
          </p:cNvPr>
          <p:cNvSpPr/>
          <p:nvPr/>
        </p:nvSpPr>
        <p:spPr>
          <a:xfrm>
            <a:off x="6461499" y="4277598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C08979CC-E5C2-9428-8FA8-55E0D1DA8D47}"/>
              </a:ext>
            </a:extLst>
          </p:cNvPr>
          <p:cNvSpPr/>
          <p:nvPr/>
        </p:nvSpPr>
        <p:spPr>
          <a:xfrm>
            <a:off x="7516359" y="4352959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C6279E49-5B7D-86CE-DCBF-AFE6D2A2220E}"/>
              </a:ext>
            </a:extLst>
          </p:cNvPr>
          <p:cNvSpPr/>
          <p:nvPr/>
        </p:nvSpPr>
        <p:spPr>
          <a:xfrm>
            <a:off x="8645937" y="4374238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A040A736-0361-0D72-F9A3-36C68A76FA7A}"/>
              </a:ext>
            </a:extLst>
          </p:cNvPr>
          <p:cNvSpPr/>
          <p:nvPr/>
        </p:nvSpPr>
        <p:spPr>
          <a:xfrm>
            <a:off x="9687985" y="4319443"/>
            <a:ext cx="876393" cy="1809818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3E92005-75F6-14B6-780A-D57B5B68EB25}"/>
              </a:ext>
            </a:extLst>
          </p:cNvPr>
          <p:cNvCxnSpPr>
            <a:cxnSpLocks/>
            <a:stCxn id="39" idx="4"/>
          </p:cNvCxnSpPr>
          <p:nvPr/>
        </p:nvCxnSpPr>
        <p:spPr>
          <a:xfrm>
            <a:off x="8833846" y="2866570"/>
            <a:ext cx="214730" cy="1320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A9D1F24B-724A-65D4-298A-E0E9DE30C405}"/>
              </a:ext>
            </a:extLst>
          </p:cNvPr>
          <p:cNvSpPr/>
          <p:nvPr/>
        </p:nvSpPr>
        <p:spPr>
          <a:xfrm>
            <a:off x="8844666" y="4095250"/>
            <a:ext cx="393199" cy="2367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AC4F258-62F2-58BA-BECC-1B1D5751DCC8}"/>
              </a:ext>
            </a:extLst>
          </p:cNvPr>
          <p:cNvSpPr/>
          <p:nvPr/>
        </p:nvSpPr>
        <p:spPr>
          <a:xfrm>
            <a:off x="6474583" y="3816061"/>
            <a:ext cx="977210" cy="778511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ED2AEB1-71C3-B704-9D65-56B2C6B9275F}"/>
              </a:ext>
            </a:extLst>
          </p:cNvPr>
          <p:cNvSpPr/>
          <p:nvPr/>
        </p:nvSpPr>
        <p:spPr>
          <a:xfrm>
            <a:off x="7547005" y="3867401"/>
            <a:ext cx="930362" cy="731217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C7CDD8-DBFE-B09F-F47F-1BB023711F84}"/>
              </a:ext>
            </a:extLst>
          </p:cNvPr>
          <p:cNvSpPr/>
          <p:nvPr/>
        </p:nvSpPr>
        <p:spPr>
          <a:xfrm>
            <a:off x="8689915" y="3867401"/>
            <a:ext cx="801470" cy="778511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BE78E8D-AF3E-7CE1-C3A5-44AA3A6326C0}"/>
              </a:ext>
            </a:extLst>
          </p:cNvPr>
          <p:cNvSpPr/>
          <p:nvPr/>
        </p:nvSpPr>
        <p:spPr>
          <a:xfrm>
            <a:off x="9711350" y="3816060"/>
            <a:ext cx="771595" cy="778511"/>
          </a:xfrm>
          <a:prstGeom prst="ellipse">
            <a:avLst/>
          </a:prstGeom>
          <a:noFill/>
          <a:ln w="444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B6AC5BE-9068-50C3-04C9-DFA2856340DB}"/>
              </a:ext>
            </a:extLst>
          </p:cNvPr>
          <p:cNvSpPr/>
          <p:nvPr/>
        </p:nvSpPr>
        <p:spPr>
          <a:xfrm rot="5400000">
            <a:off x="8142110" y="4807143"/>
            <a:ext cx="591032" cy="333313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A37034-A02C-04D6-BAA3-9196F87829ED}"/>
              </a:ext>
            </a:extLst>
          </p:cNvPr>
          <p:cNvSpPr txBox="1"/>
          <p:nvPr/>
        </p:nvSpPr>
        <p:spPr>
          <a:xfrm>
            <a:off x="8799112" y="6506227"/>
            <a:ext cx="121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Disjoint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91D3EAF3-ED57-A097-4EDC-2D0DE3119AA4}"/>
              </a:ext>
            </a:extLst>
          </p:cNvPr>
          <p:cNvSpPr/>
          <p:nvPr/>
        </p:nvSpPr>
        <p:spPr>
          <a:xfrm>
            <a:off x="1177326" y="4124537"/>
            <a:ext cx="727273" cy="1942379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C877398F-4FA6-C409-10F9-04459F0B490E}"/>
              </a:ext>
            </a:extLst>
          </p:cNvPr>
          <p:cNvSpPr/>
          <p:nvPr/>
        </p:nvSpPr>
        <p:spPr>
          <a:xfrm>
            <a:off x="1979458" y="4145037"/>
            <a:ext cx="727273" cy="1942379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4255B8B-1608-0ECF-4DD6-692F1BBA316F}"/>
              </a:ext>
            </a:extLst>
          </p:cNvPr>
          <p:cNvSpPr/>
          <p:nvPr/>
        </p:nvSpPr>
        <p:spPr>
          <a:xfrm>
            <a:off x="3067275" y="4206578"/>
            <a:ext cx="727273" cy="1942379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654A5BC-FCB6-32C6-AE95-9F7B11EB4CF7}"/>
              </a:ext>
            </a:extLst>
          </p:cNvPr>
          <p:cNvSpPr/>
          <p:nvPr/>
        </p:nvSpPr>
        <p:spPr>
          <a:xfrm>
            <a:off x="3616735" y="4068507"/>
            <a:ext cx="772943" cy="1607122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980AA01-EE3B-8AA0-7E5C-69E8FC1B9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58" y="323053"/>
            <a:ext cx="6375574" cy="2227674"/>
          </a:xfrm>
          <a:prstGeom prst="rect">
            <a:avLst/>
          </a:prstGeom>
        </p:spPr>
      </p:pic>
      <p:sp>
        <p:nvSpPr>
          <p:cNvPr id="48" name="Multiplication Sign 47">
            <a:extLst>
              <a:ext uri="{FF2B5EF4-FFF2-40B4-BE49-F238E27FC236}">
                <a16:creationId xmlns:a16="http://schemas.microsoft.com/office/drawing/2014/main" id="{FDF936B5-4162-23C5-405B-584EB9B43636}"/>
              </a:ext>
            </a:extLst>
          </p:cNvPr>
          <p:cNvSpPr/>
          <p:nvPr/>
        </p:nvSpPr>
        <p:spPr>
          <a:xfrm>
            <a:off x="8602512" y="1933758"/>
            <a:ext cx="393199" cy="56184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90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1603-6551-2782-5A1A-DD2BFF0FC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Algorithm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20A3B-2ED8-C0CD-FB3C-2AB67ACE6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0594"/>
            <a:ext cx="10515600" cy="4746369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Overview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Dynamic Programming (DP)</a:t>
            </a:r>
            <a:r>
              <a:rPr lang="en-US" dirty="0"/>
              <a:t> on trees.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Key Definitions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dp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][0]: Maximum weight </a:t>
            </a:r>
            <a:r>
              <a:rPr lang="en-US" b="1" dirty="0">
                <a:solidFill>
                  <a:srgbClr val="FF0000"/>
                </a:solidFill>
              </a:rPr>
              <a:t>excluding </a:t>
            </a:r>
            <a:r>
              <a:rPr lang="en-US" dirty="0"/>
              <a:t>node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dp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][1]: Maximum weight </a:t>
            </a:r>
            <a:r>
              <a:rPr lang="en-US" b="1" dirty="0">
                <a:solidFill>
                  <a:srgbClr val="FF0000"/>
                </a:solidFill>
              </a:rPr>
              <a:t>including</a:t>
            </a:r>
            <a:r>
              <a:rPr lang="en-US" dirty="0"/>
              <a:t> node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Recurrence Relation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𝑑𝑝[𝑖][0]=∑max(𝑑𝑝[𝑐ℎ𝑖𝑙𝑑][0],𝑑𝑝[𝑐ℎ𝑖𝑙𝑑][1])</a:t>
            </a:r>
          </a:p>
          <a:p>
            <a:pPr marL="0" indent="0">
              <a:buNone/>
            </a:pPr>
            <a:r>
              <a:rPr lang="en-US" dirty="0"/>
              <a:t>𝑑𝑝[𝑖][1]=𝑤𝑒𝑖𝑔ℎ𝑡[𝑖]+∑𝑑𝑝[𝑐ℎ𝑖𝑙𝑑][0].</a:t>
            </a:r>
          </a:p>
        </p:txBody>
      </p:sp>
    </p:spTree>
    <p:extLst>
      <p:ext uri="{BB962C8B-B14F-4D97-AF65-F5344CB8AC3E}">
        <p14:creationId xmlns:p14="http://schemas.microsoft.com/office/powerpoint/2010/main" val="1797810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FE11-286E-EECA-16E9-1346DA8B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Pseudo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7E304-DEEC-0AAC-AEA5-12687AE63A58}"/>
              </a:ext>
            </a:extLst>
          </p:cNvPr>
          <p:cNvSpPr txBox="1"/>
          <p:nvPr/>
        </p:nvSpPr>
        <p:spPr>
          <a:xfrm>
            <a:off x="954957" y="1334616"/>
            <a:ext cx="82296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function </a:t>
            </a:r>
            <a:r>
              <a:rPr lang="en-US" sz="2400" b="1" dirty="0"/>
              <a:t>MWIS</a:t>
            </a:r>
            <a:r>
              <a:rPr lang="en-US" sz="2400" dirty="0"/>
              <a:t>(tree):</a:t>
            </a:r>
          </a:p>
          <a:p>
            <a:r>
              <a:rPr lang="en-US" sz="2400" dirty="0"/>
              <a:t>    initialize DP arrays</a:t>
            </a:r>
          </a:p>
          <a:p>
            <a:r>
              <a:rPr lang="en-US" sz="2400" dirty="0"/>
              <a:t>    function </a:t>
            </a:r>
            <a:r>
              <a:rPr lang="en-US" sz="2400" b="1" dirty="0" err="1"/>
              <a:t>dfs</a:t>
            </a:r>
            <a:r>
              <a:rPr lang="en-US" sz="2400" dirty="0"/>
              <a:t>(node):</a:t>
            </a:r>
          </a:p>
          <a:p>
            <a:r>
              <a:rPr lang="en-US" sz="2400" dirty="0"/>
              <a:t>        for child in children[node]:</a:t>
            </a:r>
          </a:p>
          <a:p>
            <a:r>
              <a:rPr lang="en-US" sz="2400" dirty="0"/>
              <a:t>            </a:t>
            </a:r>
            <a:r>
              <a:rPr lang="en-US" sz="2400" dirty="0" err="1"/>
              <a:t>dfs</a:t>
            </a:r>
            <a:r>
              <a:rPr lang="en-US" sz="2400" dirty="0"/>
              <a:t>(child)</a:t>
            </a:r>
          </a:p>
          <a:p>
            <a:r>
              <a:rPr lang="en-US" sz="2400" dirty="0"/>
              <a:t>            update DP[node] using children’s DP values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dfs</a:t>
            </a:r>
            <a:r>
              <a:rPr lang="en-US" sz="2400" dirty="0"/>
              <a:t>(root)</a:t>
            </a:r>
          </a:p>
          <a:p>
            <a:r>
              <a:rPr lang="en-US" sz="2400" dirty="0"/>
              <a:t>    return max(</a:t>
            </a:r>
            <a:r>
              <a:rPr lang="en-US" sz="2400" dirty="0" err="1"/>
              <a:t>dp</a:t>
            </a:r>
            <a:r>
              <a:rPr lang="en-US" sz="2400" dirty="0"/>
              <a:t>[root][0], </a:t>
            </a:r>
            <a:r>
              <a:rPr lang="en-US" sz="2400" dirty="0" err="1"/>
              <a:t>dp</a:t>
            </a:r>
            <a:r>
              <a:rPr lang="en-US" sz="2400" dirty="0"/>
              <a:t>[root][1])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8F698C-6801-5C3F-DA30-F9C55DDF631D}"/>
              </a:ext>
            </a:extLst>
          </p:cNvPr>
          <p:cNvSpPr txBox="1"/>
          <p:nvPr/>
        </p:nvSpPr>
        <p:spPr>
          <a:xfrm>
            <a:off x="954957" y="5622114"/>
            <a:ext cx="93689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   Building the adjacency list and weights array: </a:t>
            </a:r>
            <a:r>
              <a:rPr lang="en-US" b="1" dirty="0"/>
              <a:t>𝑂(𝑛).</a:t>
            </a:r>
          </a:p>
          <a:p>
            <a:r>
              <a:rPr lang="en-US" dirty="0"/>
              <a:t>DFS traversal of the tree: </a:t>
            </a:r>
            <a:r>
              <a:rPr lang="en-US" b="1" dirty="0"/>
              <a:t>𝑂(𝑛). </a:t>
            </a:r>
            <a:r>
              <a:rPr lang="en-US" dirty="0"/>
              <a:t>Total time complexity: </a:t>
            </a:r>
            <a:r>
              <a:rPr lang="en-US" b="1" dirty="0"/>
              <a:t>𝑂(𝑛)  </a:t>
            </a:r>
            <a:r>
              <a:rPr lang="en-US" dirty="0"/>
              <a:t>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D6D5C4-B254-11E9-CD25-8C7B3B40F4F6}"/>
              </a:ext>
            </a:extLst>
          </p:cNvPr>
          <p:cNvSpPr txBox="1"/>
          <p:nvPr/>
        </p:nvSpPr>
        <p:spPr>
          <a:xfrm>
            <a:off x="954958" y="5243729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Time Complexity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49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CB962CF-61A3-4EF9-94F6-7C59B032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16B25-CCF4-F095-1781-C9A9FA8C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43" y="168486"/>
            <a:ext cx="6510738" cy="9817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dirty="0"/>
              <a:t>Problem Description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57A36-2634-5269-53A8-4F6624125534}"/>
              </a:ext>
            </a:extLst>
          </p:cNvPr>
          <p:cNvSpPr txBox="1"/>
          <p:nvPr/>
        </p:nvSpPr>
        <p:spPr>
          <a:xfrm>
            <a:off x="476248" y="1489587"/>
            <a:ext cx="7532125" cy="42181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ArialMT"/>
              </a:rPr>
              <a:t>We assume that the nodes of the tree are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mbriaMath"/>
              </a:rPr>
              <a:t>[𝑛] = {1, 2, 3, … , 𝑛}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MT"/>
              </a:rPr>
              <a:t>. We root the tree at vertex 1, and for each vertex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mbriaMath"/>
              </a:rPr>
              <a:t>𝑖 ∈ [2, 𝑛]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MT"/>
              </a:rPr>
              <a:t>, the parent of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mbriaMath"/>
              </a:rPr>
              <a:t>𝑖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MT"/>
              </a:rPr>
              <a:t>is a vertex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mbriaMath"/>
              </a:rPr>
              <a:t>𝑗 &lt; 𝑖</a:t>
            </a:r>
            <a:r>
              <a:rPr lang="en-US" sz="2000" dirty="0"/>
              <a:t> </a:t>
            </a:r>
            <a:br>
              <a:rPr lang="en-US" sz="2000" dirty="0"/>
            </a:br>
            <a:endParaRPr lang="en-US" sz="2000" b="0" i="0" dirty="0">
              <a:effectLst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dirty="0">
              <a:effectLst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The first line of input contains one integer 𝑛, the number of vertices in the tree.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dirty="0">
              <a:effectLst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 The next n lines contain two integers each, where the 𝑖-</a:t>
            </a:r>
            <a:r>
              <a:rPr lang="en-US" sz="2000" b="0" i="0" dirty="0" err="1">
                <a:effectLst/>
              </a:rPr>
              <a:t>th</a:t>
            </a:r>
            <a:r>
              <a:rPr lang="en-US" sz="2000" b="0" i="0" dirty="0">
                <a:effectLst/>
              </a:rPr>
              <a:t> line contains two integers 𝑝𝑖 and 𝑤𝑖, where 𝑝𝑖 is the parent of 𝑖 and 𝑤𝑖 is the weight of 𝑖. We assume 𝑝1 = 0, which is useless. For all 𝑖 ∈ [2, 𝑛], we have 1 ≤ 𝑝𝑖 &lt; 𝑖</a:t>
            </a:r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Arial-BoldMT"/>
              </a:rPr>
              <a:t>Constraints:</a:t>
            </a:r>
          </a:p>
          <a:p>
            <a:pPr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SymbolMT"/>
              </a:rPr>
              <a:t>•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mbriaMath"/>
              </a:rPr>
              <a:t>1 ≤ 𝑛 ≤ 106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MT"/>
              </a:rPr>
              <a:t>.</a:t>
            </a:r>
          </a:p>
          <a:p>
            <a:pPr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SymbolMT"/>
              </a:rPr>
              <a:t>•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mbriaMath"/>
              </a:rPr>
              <a:t>1 ≤ 𝑛 ≤ 106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MT"/>
              </a:rPr>
              <a:t>for every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mbriaMath"/>
              </a:rPr>
              <a:t>𝑖 ∈ [𝑛]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MT"/>
              </a:rPr>
              <a:t>.</a:t>
            </a:r>
          </a:p>
          <a:p>
            <a:pPr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SymbolMT"/>
              </a:rPr>
              <a:t>•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rialMT"/>
              </a:rPr>
              <a:t>It is expected that your program will terminate in 10 seconds.</a:t>
            </a:r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66AF053C-97A7-005F-B7FF-94AB52110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904" y="641181"/>
            <a:ext cx="3995623" cy="2357417"/>
          </a:xfrm>
          <a:prstGeom prst="rect">
            <a:avLst/>
          </a:prstGeom>
        </p:spPr>
      </p:pic>
      <p:pic>
        <p:nvPicPr>
          <p:cNvPr id="9" name="Picture 8" descr="A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40AD8B37-92BF-15B4-9B86-30A32EEC2D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128" y="3944133"/>
            <a:ext cx="3995623" cy="9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87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6551099-B29D-F410-EF09-9BF2456BF49F}"/>
              </a:ext>
            </a:extLst>
          </p:cNvPr>
          <p:cNvGrpSpPr/>
          <p:nvPr/>
        </p:nvGrpSpPr>
        <p:grpSpPr>
          <a:xfrm>
            <a:off x="4807974" y="530942"/>
            <a:ext cx="693174" cy="619432"/>
            <a:chOff x="4807974" y="530942"/>
            <a:chExt cx="693174" cy="61943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FDBDE65-C1A9-8F02-1F6A-197AE0A8EE76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4F29D5-C871-A194-9516-94D430F120AD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53FC699-97A0-9FE3-666A-70AC7DA0FE0B}"/>
              </a:ext>
            </a:extLst>
          </p:cNvPr>
          <p:cNvGrpSpPr/>
          <p:nvPr/>
        </p:nvGrpSpPr>
        <p:grpSpPr>
          <a:xfrm>
            <a:off x="2787445" y="1833716"/>
            <a:ext cx="693174" cy="619432"/>
            <a:chOff x="4807974" y="530942"/>
            <a:chExt cx="693174" cy="61943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3A9935-CA96-50B2-E5F5-BB2CB95CF94F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9AC081-C8D2-1E16-6BDF-4F2752131EB2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8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D3F559-17EF-7563-F867-19CE19888BC4}"/>
              </a:ext>
            </a:extLst>
          </p:cNvPr>
          <p:cNvGrpSpPr/>
          <p:nvPr/>
        </p:nvGrpSpPr>
        <p:grpSpPr>
          <a:xfrm>
            <a:off x="5466735" y="3119284"/>
            <a:ext cx="693174" cy="619432"/>
            <a:chOff x="4807974" y="530942"/>
            <a:chExt cx="693174" cy="61943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13A4A11-9757-6828-62BB-26C35025EDA0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785CA-3C88-0F83-F18E-FC5C1433A416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7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4D7A84-E018-D5C1-3330-E85DC9C51E61}"/>
              </a:ext>
            </a:extLst>
          </p:cNvPr>
          <p:cNvGrpSpPr/>
          <p:nvPr/>
        </p:nvGrpSpPr>
        <p:grpSpPr>
          <a:xfrm>
            <a:off x="4773561" y="1833716"/>
            <a:ext cx="693174" cy="619432"/>
            <a:chOff x="4807974" y="530942"/>
            <a:chExt cx="693174" cy="61943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0EF6B98-EA73-7306-13DA-9E3C5E9C7792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B07F43B-F752-379B-4CC3-B4EBB2A1B2B1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48D8BD-0C6B-68DD-575C-ED0E7B0761BB}"/>
              </a:ext>
            </a:extLst>
          </p:cNvPr>
          <p:cNvGrpSpPr/>
          <p:nvPr/>
        </p:nvGrpSpPr>
        <p:grpSpPr>
          <a:xfrm>
            <a:off x="2787445" y="4507467"/>
            <a:ext cx="693174" cy="619432"/>
            <a:chOff x="4807974" y="530942"/>
            <a:chExt cx="693174" cy="61943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9DFB048-EDCE-074F-70F9-77A925027114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9B74E6C-2529-A606-F275-2FDC60B34ECA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4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749234-1B2B-7AB9-3C23-A2A8641BC80E}"/>
              </a:ext>
            </a:extLst>
          </p:cNvPr>
          <p:cNvGrpSpPr/>
          <p:nvPr/>
        </p:nvGrpSpPr>
        <p:grpSpPr>
          <a:xfrm>
            <a:off x="7359445" y="1833716"/>
            <a:ext cx="693174" cy="619432"/>
            <a:chOff x="4807974" y="530942"/>
            <a:chExt cx="693174" cy="6194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3021A7F-F4E5-B592-292B-EDC719877FA6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E981E45-42DB-3654-9334-D2BECFFEAA69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2736707-EDF0-E714-6B7B-0B76DA9854F7}"/>
              </a:ext>
            </a:extLst>
          </p:cNvPr>
          <p:cNvGrpSpPr/>
          <p:nvPr/>
        </p:nvGrpSpPr>
        <p:grpSpPr>
          <a:xfrm>
            <a:off x="1627239" y="3119284"/>
            <a:ext cx="693174" cy="619432"/>
            <a:chOff x="4807974" y="530942"/>
            <a:chExt cx="693174" cy="619432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DE2BBD1-1DBA-E7CE-03C5-E015B7DA4EA9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98D5118-85F3-FEF1-3221-3D8F2FE40661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CB9AF05-4583-3DF2-05D7-65C13518EB64}"/>
              </a:ext>
            </a:extLst>
          </p:cNvPr>
          <p:cNvGrpSpPr/>
          <p:nvPr/>
        </p:nvGrpSpPr>
        <p:grpSpPr>
          <a:xfrm>
            <a:off x="2787445" y="3119284"/>
            <a:ext cx="693174" cy="619432"/>
            <a:chOff x="4807974" y="530942"/>
            <a:chExt cx="693174" cy="619432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1309A2D-F81A-847C-BB7D-29AF61DD3F34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EF4229-978A-2AD3-31BA-E020DF9A21FD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5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452E55-BBBE-A302-D129-00AC1521B00A}"/>
              </a:ext>
            </a:extLst>
          </p:cNvPr>
          <p:cNvGrpSpPr/>
          <p:nvPr/>
        </p:nvGrpSpPr>
        <p:grpSpPr>
          <a:xfrm>
            <a:off x="3947651" y="3119284"/>
            <a:ext cx="693174" cy="619432"/>
            <a:chOff x="4807974" y="530942"/>
            <a:chExt cx="693174" cy="61943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0E80BD8-A983-1372-0618-9FED138ED939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2F4A521-C3FC-BD5D-7C05-29D5C97AB744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5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9616B7-A29D-FF3B-8F47-5E615BF36BB9}"/>
              </a:ext>
            </a:extLst>
          </p:cNvPr>
          <p:cNvGrpSpPr/>
          <p:nvPr/>
        </p:nvGrpSpPr>
        <p:grpSpPr>
          <a:xfrm>
            <a:off x="6961239" y="3119284"/>
            <a:ext cx="693174" cy="619432"/>
            <a:chOff x="4807974" y="530942"/>
            <a:chExt cx="693174" cy="619432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0F78ADD-CB65-CB2B-DE07-92DEC1E27BB4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83A4270-ACEC-8164-A3F6-25A2BA8EB538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2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621652-25E6-0641-DC07-E329DD93308B}"/>
              </a:ext>
            </a:extLst>
          </p:cNvPr>
          <p:cNvGrpSpPr/>
          <p:nvPr/>
        </p:nvGrpSpPr>
        <p:grpSpPr>
          <a:xfrm>
            <a:off x="8455743" y="3119284"/>
            <a:ext cx="693174" cy="619432"/>
            <a:chOff x="4807974" y="530942"/>
            <a:chExt cx="693174" cy="619432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FCBFC0C-BEC5-5F24-DAC6-FF465FABFB63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0F7AC23-2F7A-E158-01FE-3146BD76F318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9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BCDAFBF-EE8A-16B1-22BC-D5C4E66E544D}"/>
              </a:ext>
            </a:extLst>
          </p:cNvPr>
          <p:cNvCxnSpPr>
            <a:stCxn id="4" idx="3"/>
            <a:endCxn id="9" idx="7"/>
          </p:cNvCxnSpPr>
          <p:nvPr/>
        </p:nvCxnSpPr>
        <p:spPr>
          <a:xfrm flipH="1">
            <a:off x="3379106" y="1059660"/>
            <a:ext cx="1530381" cy="8647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751675D-4B0B-2CC5-BA31-A7FB44F02DAA}"/>
              </a:ext>
            </a:extLst>
          </p:cNvPr>
          <p:cNvCxnSpPr>
            <a:cxnSpLocks/>
            <a:stCxn id="9" idx="3"/>
            <a:endCxn id="24" idx="7"/>
          </p:cNvCxnSpPr>
          <p:nvPr/>
        </p:nvCxnSpPr>
        <p:spPr>
          <a:xfrm flipH="1">
            <a:off x="2218900" y="2362434"/>
            <a:ext cx="670058" cy="84756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B6AD01B-9EC8-60C1-330A-E26D2BE2808D}"/>
              </a:ext>
            </a:extLst>
          </p:cNvPr>
          <p:cNvCxnSpPr>
            <a:cxnSpLocks/>
            <a:stCxn id="27" idx="0"/>
            <a:endCxn id="9" idx="4"/>
          </p:cNvCxnSpPr>
          <p:nvPr/>
        </p:nvCxnSpPr>
        <p:spPr>
          <a:xfrm flipV="1">
            <a:off x="3134032" y="2453148"/>
            <a:ext cx="0" cy="66613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8E100C-A746-0529-5DEA-D355A9975ADE}"/>
              </a:ext>
            </a:extLst>
          </p:cNvPr>
          <p:cNvCxnSpPr>
            <a:cxnSpLocks/>
            <a:stCxn id="30" idx="0"/>
            <a:endCxn id="9" idx="5"/>
          </p:cNvCxnSpPr>
          <p:nvPr/>
        </p:nvCxnSpPr>
        <p:spPr>
          <a:xfrm flipH="1" flipV="1">
            <a:off x="3379106" y="2362434"/>
            <a:ext cx="915132" cy="75685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53ABB9C-B9BC-5513-E3B9-BEEC3F87CAFA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3116825" y="3738716"/>
            <a:ext cx="17207" cy="76875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C1E10BB-7C8E-F054-638D-6A452FEAB74A}"/>
              </a:ext>
            </a:extLst>
          </p:cNvPr>
          <p:cNvCxnSpPr>
            <a:cxnSpLocks/>
            <a:stCxn id="12" idx="0"/>
            <a:endCxn id="15" idx="5"/>
          </p:cNvCxnSpPr>
          <p:nvPr/>
        </p:nvCxnSpPr>
        <p:spPr>
          <a:xfrm flipH="1" flipV="1">
            <a:off x="5365222" y="2362434"/>
            <a:ext cx="448100" cy="75685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1BB71A1-6861-26CC-16F3-095FA260D6EB}"/>
              </a:ext>
            </a:extLst>
          </p:cNvPr>
          <p:cNvCxnSpPr>
            <a:cxnSpLocks/>
          </p:cNvCxnSpPr>
          <p:nvPr/>
        </p:nvCxnSpPr>
        <p:spPr>
          <a:xfrm flipV="1">
            <a:off x="5154561" y="1150374"/>
            <a:ext cx="0" cy="66613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60E1E32-AB53-6FEC-525E-0246D4B251C4}"/>
              </a:ext>
            </a:extLst>
          </p:cNvPr>
          <p:cNvCxnSpPr>
            <a:cxnSpLocks/>
            <a:stCxn id="21" idx="0"/>
            <a:endCxn id="4" idx="5"/>
          </p:cNvCxnSpPr>
          <p:nvPr/>
        </p:nvCxnSpPr>
        <p:spPr>
          <a:xfrm flipH="1" flipV="1">
            <a:off x="5399635" y="1059660"/>
            <a:ext cx="2306397" cy="77405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6D550A9-1D5F-DCB7-F434-432A3739FCBD}"/>
              </a:ext>
            </a:extLst>
          </p:cNvPr>
          <p:cNvCxnSpPr>
            <a:cxnSpLocks/>
            <a:stCxn id="33" idx="0"/>
            <a:endCxn id="21" idx="4"/>
          </p:cNvCxnSpPr>
          <p:nvPr/>
        </p:nvCxnSpPr>
        <p:spPr>
          <a:xfrm flipV="1">
            <a:off x="7307826" y="2453148"/>
            <a:ext cx="398206" cy="66613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C3B4001-12FE-426E-BE30-88B3D4D7009D}"/>
              </a:ext>
            </a:extLst>
          </p:cNvPr>
          <p:cNvCxnSpPr>
            <a:cxnSpLocks/>
            <a:stCxn id="36" idx="0"/>
            <a:endCxn id="21" idx="5"/>
          </p:cNvCxnSpPr>
          <p:nvPr/>
        </p:nvCxnSpPr>
        <p:spPr>
          <a:xfrm flipH="1" flipV="1">
            <a:off x="7951106" y="2362434"/>
            <a:ext cx="851224" cy="75685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26EE3F8-DCD4-5C68-B2B2-EB8B418721A8}"/>
              </a:ext>
            </a:extLst>
          </p:cNvPr>
          <p:cNvSpPr txBox="1"/>
          <p:nvPr/>
        </p:nvSpPr>
        <p:spPr>
          <a:xfrm>
            <a:off x="4534396" y="70196"/>
            <a:ext cx="1251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/>
              <a:t>Root  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00AC0F-EA55-1ECE-3BAD-8BCD255361DD}"/>
              </a:ext>
            </a:extLst>
          </p:cNvPr>
          <p:cNvSpPr txBox="1"/>
          <p:nvPr/>
        </p:nvSpPr>
        <p:spPr>
          <a:xfrm>
            <a:off x="4294238" y="51922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CB00CA-5E05-E1BA-355D-DF4C26F84497}"/>
              </a:ext>
            </a:extLst>
          </p:cNvPr>
          <p:cNvSpPr txBox="1"/>
          <p:nvPr/>
        </p:nvSpPr>
        <p:spPr>
          <a:xfrm>
            <a:off x="2270520" y="1956308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1FBDF5-394C-6767-232B-7DA5710EEF02}"/>
              </a:ext>
            </a:extLst>
          </p:cNvPr>
          <p:cNvSpPr txBox="1"/>
          <p:nvPr/>
        </p:nvSpPr>
        <p:spPr>
          <a:xfrm>
            <a:off x="4104236" y="1941598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D84CE91-A5BC-E978-C559-AAD3000B8AEE}"/>
              </a:ext>
            </a:extLst>
          </p:cNvPr>
          <p:cNvSpPr txBox="1"/>
          <p:nvPr/>
        </p:nvSpPr>
        <p:spPr>
          <a:xfrm>
            <a:off x="6750315" y="202129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618E226-A6BA-8BE3-B1DD-4266423EAD25}"/>
              </a:ext>
            </a:extLst>
          </p:cNvPr>
          <p:cNvSpPr txBox="1"/>
          <p:nvPr/>
        </p:nvSpPr>
        <p:spPr>
          <a:xfrm>
            <a:off x="1052052" y="3251535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6E404B9-AFDB-BF12-1071-5E17EF0E847F}"/>
              </a:ext>
            </a:extLst>
          </p:cNvPr>
          <p:cNvSpPr txBox="1"/>
          <p:nvPr/>
        </p:nvSpPr>
        <p:spPr>
          <a:xfrm>
            <a:off x="2298496" y="322504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CF0C40-1A23-DBC3-E4DC-263FC6C6E0CE}"/>
              </a:ext>
            </a:extLst>
          </p:cNvPr>
          <p:cNvSpPr txBox="1"/>
          <p:nvPr/>
        </p:nvSpPr>
        <p:spPr>
          <a:xfrm>
            <a:off x="3475703" y="3253876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0092E9E-D7C2-2839-CA8D-14ABD3D7B345}"/>
              </a:ext>
            </a:extLst>
          </p:cNvPr>
          <p:cNvSpPr txBox="1"/>
          <p:nvPr/>
        </p:nvSpPr>
        <p:spPr>
          <a:xfrm>
            <a:off x="4866967" y="3244334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69F8F4-F504-1442-F4AE-0415DE8B4564}"/>
              </a:ext>
            </a:extLst>
          </p:cNvPr>
          <p:cNvSpPr txBox="1"/>
          <p:nvPr/>
        </p:nvSpPr>
        <p:spPr>
          <a:xfrm>
            <a:off x="6494939" y="322504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A99DE59-FE16-BDAF-751A-7744DB7EEE59}"/>
              </a:ext>
            </a:extLst>
          </p:cNvPr>
          <p:cNvSpPr txBox="1"/>
          <p:nvPr/>
        </p:nvSpPr>
        <p:spPr>
          <a:xfrm>
            <a:off x="7793294" y="3239184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26C450-5362-93D3-CFF1-49904420CB09}"/>
              </a:ext>
            </a:extLst>
          </p:cNvPr>
          <p:cNvSpPr txBox="1"/>
          <p:nvPr/>
        </p:nvSpPr>
        <p:spPr>
          <a:xfrm>
            <a:off x="2202426" y="4627879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727B8F7-37C6-DCF6-35EA-2371114E2B91}"/>
              </a:ext>
            </a:extLst>
          </p:cNvPr>
          <p:cNvSpPr txBox="1"/>
          <p:nvPr/>
        </p:nvSpPr>
        <p:spPr>
          <a:xfrm>
            <a:off x="9429136" y="439528"/>
            <a:ext cx="273705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Node</a:t>
            </a:r>
            <a:r>
              <a:rPr lang="en-US" dirty="0"/>
              <a:t>   </a:t>
            </a:r>
            <a:r>
              <a:rPr lang="en-US" b="1" dirty="0"/>
              <a:t>Parent</a:t>
            </a:r>
            <a:r>
              <a:rPr lang="en-US" dirty="0"/>
              <a:t>    </a:t>
            </a:r>
            <a:r>
              <a:rPr lang="en-US" b="1" dirty="0"/>
              <a:t>Weight</a:t>
            </a:r>
          </a:p>
          <a:p>
            <a:r>
              <a:rPr lang="en-US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1</a:t>
            </a:r>
            <a:r>
              <a:rPr lang="pl-PL" dirty="0"/>
              <a:t>: p=0 (root), w=15</a:t>
            </a:r>
          </a:p>
          <a:p>
            <a:endParaRPr lang="pl-PL" dirty="0"/>
          </a:p>
          <a:p>
            <a:r>
              <a:rPr lang="pl-PL" dirty="0"/>
              <a:t>Node</a:t>
            </a:r>
            <a:r>
              <a:rPr lang="pl-PL" b="1" dirty="0">
                <a:solidFill>
                  <a:srgbClr val="FF0000"/>
                </a:solidFill>
              </a:rPr>
              <a:t> 2</a:t>
            </a:r>
            <a:r>
              <a:rPr lang="pl-PL" dirty="0"/>
              <a:t>: p=1, w=8</a:t>
            </a:r>
          </a:p>
          <a:p>
            <a:endParaRPr lang="pl-PL" dirty="0"/>
          </a:p>
          <a:p>
            <a:r>
              <a:rPr lang="pl-PL" dirty="0"/>
              <a:t>Node</a:t>
            </a:r>
            <a:r>
              <a:rPr lang="pl-PL" b="1" dirty="0">
                <a:solidFill>
                  <a:srgbClr val="FF0000"/>
                </a:solidFill>
              </a:rPr>
              <a:t> 3</a:t>
            </a:r>
            <a:r>
              <a:rPr lang="pl-PL" dirty="0"/>
              <a:t>: p=1, w=16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4</a:t>
            </a:r>
            <a:r>
              <a:rPr lang="pl-PL" dirty="0"/>
              <a:t>: p=1, w=18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5</a:t>
            </a:r>
            <a:r>
              <a:rPr lang="pl-PL" dirty="0"/>
              <a:t>: p=2, w=3</a:t>
            </a:r>
          </a:p>
          <a:p>
            <a:endParaRPr lang="pl-PL" dirty="0"/>
          </a:p>
          <a:p>
            <a:r>
              <a:rPr lang="pl-PL" dirty="0"/>
              <a:t>Node</a:t>
            </a:r>
            <a:r>
              <a:rPr lang="pl-PL" b="1" dirty="0">
                <a:solidFill>
                  <a:srgbClr val="FF0000"/>
                </a:solidFill>
              </a:rPr>
              <a:t> 6</a:t>
            </a:r>
            <a:r>
              <a:rPr lang="pl-PL" dirty="0"/>
              <a:t>: p=2, w=5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7</a:t>
            </a:r>
            <a:r>
              <a:rPr lang="pl-PL" dirty="0"/>
              <a:t>: p=2, w=5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8</a:t>
            </a:r>
            <a:r>
              <a:rPr lang="pl-PL" dirty="0"/>
              <a:t>: p=3, w=7</a:t>
            </a:r>
          </a:p>
          <a:p>
            <a:endParaRPr lang="pl-PL" dirty="0"/>
          </a:p>
          <a:p>
            <a:r>
              <a:rPr lang="pl-PL" dirty="0"/>
              <a:t>Node</a:t>
            </a:r>
            <a:r>
              <a:rPr lang="pl-PL" b="1" dirty="0">
                <a:solidFill>
                  <a:srgbClr val="FF0000"/>
                </a:solidFill>
              </a:rPr>
              <a:t> 9</a:t>
            </a:r>
            <a:r>
              <a:rPr lang="pl-PL" dirty="0"/>
              <a:t>: p=4, w=2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10</a:t>
            </a:r>
            <a:r>
              <a:rPr lang="pl-PL" dirty="0"/>
              <a:t>: p=4, w=9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11</a:t>
            </a:r>
            <a:r>
              <a:rPr lang="pl-PL" dirty="0"/>
              <a:t>: p=6, w=4</a:t>
            </a:r>
            <a:endParaRPr lang="en-US" dirty="0"/>
          </a:p>
        </p:txBody>
      </p:sp>
      <p:pic>
        <p:nvPicPr>
          <p:cNvPr id="85" name="Picture 84" descr="A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83CF55D6-6B83-1A76-1777-1DDAF2013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52" y="5251950"/>
            <a:ext cx="7316429" cy="1606050"/>
          </a:xfrm>
          <a:prstGeom prst="rect">
            <a:avLst/>
          </a:prstGeom>
        </p:spPr>
      </p:pic>
      <p:sp>
        <p:nvSpPr>
          <p:cNvPr id="87" name="Title 1">
            <a:extLst>
              <a:ext uri="{FF2B5EF4-FFF2-40B4-BE49-F238E27FC236}">
                <a16:creationId xmlns:a16="http://schemas.microsoft.com/office/drawing/2014/main" id="{5A571323-19B6-48DB-54F6-85BB3AA3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0" y="-23846"/>
            <a:ext cx="3449893" cy="9817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/>
              <a:t>Given Example</a:t>
            </a:r>
          </a:p>
        </p:txBody>
      </p:sp>
    </p:spTree>
    <p:extLst>
      <p:ext uri="{BB962C8B-B14F-4D97-AF65-F5344CB8AC3E}">
        <p14:creationId xmlns:p14="http://schemas.microsoft.com/office/powerpoint/2010/main" val="4135482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5C41E-FC01-F3FF-5184-D5E9A60D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8C6D0A5-3153-58CC-0859-92E4DB0DBCAA}"/>
              </a:ext>
            </a:extLst>
          </p:cNvPr>
          <p:cNvGrpSpPr/>
          <p:nvPr/>
        </p:nvGrpSpPr>
        <p:grpSpPr>
          <a:xfrm>
            <a:off x="4807974" y="530942"/>
            <a:ext cx="693174" cy="619432"/>
            <a:chOff x="4807974" y="530942"/>
            <a:chExt cx="693174" cy="61943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060BC03-5CFE-48D3-7703-88BF9ED9DD89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A91CEB5-51EA-1D5A-B174-F64325187AD7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6B57BD3-9D9D-AE6D-8AC1-389528D9448B}"/>
              </a:ext>
            </a:extLst>
          </p:cNvPr>
          <p:cNvGrpSpPr/>
          <p:nvPr/>
        </p:nvGrpSpPr>
        <p:grpSpPr>
          <a:xfrm>
            <a:off x="2787445" y="1833716"/>
            <a:ext cx="693174" cy="619432"/>
            <a:chOff x="4807974" y="530942"/>
            <a:chExt cx="693174" cy="61943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5D7DFBF-05F3-41EC-B044-083015EFC17B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E85838-908A-75C9-770E-7508D26F8403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8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87E55F-587C-0F54-B693-8F96AF447F08}"/>
              </a:ext>
            </a:extLst>
          </p:cNvPr>
          <p:cNvGrpSpPr/>
          <p:nvPr/>
        </p:nvGrpSpPr>
        <p:grpSpPr>
          <a:xfrm>
            <a:off x="5466735" y="3119284"/>
            <a:ext cx="693174" cy="619432"/>
            <a:chOff x="4807974" y="530942"/>
            <a:chExt cx="693174" cy="61943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AC0069-19BB-5DF0-943D-9207243A0291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BF6805-01A1-6965-E049-567C9096A67B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7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430CCE-7950-2CAE-17DD-C4740A92C426}"/>
              </a:ext>
            </a:extLst>
          </p:cNvPr>
          <p:cNvGrpSpPr/>
          <p:nvPr/>
        </p:nvGrpSpPr>
        <p:grpSpPr>
          <a:xfrm>
            <a:off x="4773561" y="1833716"/>
            <a:ext cx="693174" cy="619432"/>
            <a:chOff x="4807974" y="530942"/>
            <a:chExt cx="693174" cy="61943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7436E1B-6D33-4F72-9CFD-44BB2C013DA0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F0389B2-795F-8DE9-CF54-EDA67A5D709F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952BDB1-AEFD-947D-C9B9-C462C3F40162}"/>
              </a:ext>
            </a:extLst>
          </p:cNvPr>
          <p:cNvGrpSpPr/>
          <p:nvPr/>
        </p:nvGrpSpPr>
        <p:grpSpPr>
          <a:xfrm>
            <a:off x="2787445" y="4507467"/>
            <a:ext cx="693174" cy="619432"/>
            <a:chOff x="4807974" y="530942"/>
            <a:chExt cx="693174" cy="61943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9DC85F3-5F6A-34FA-6588-C7A8711BE4A7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B74CFF-7B70-AA4D-B8A8-5044C784A5BB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4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B471B6-79D0-08BD-BBAC-DC49874A6ECB}"/>
              </a:ext>
            </a:extLst>
          </p:cNvPr>
          <p:cNvGrpSpPr/>
          <p:nvPr/>
        </p:nvGrpSpPr>
        <p:grpSpPr>
          <a:xfrm>
            <a:off x="7359445" y="1833716"/>
            <a:ext cx="693174" cy="619432"/>
            <a:chOff x="4807974" y="530942"/>
            <a:chExt cx="693174" cy="6194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E8284CA-B4F3-B416-D511-245F5D0FFE98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1B1D2E-FD46-8BDB-25B9-812B8C228978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6DE29B-1C54-DD54-2E22-F46B50315835}"/>
              </a:ext>
            </a:extLst>
          </p:cNvPr>
          <p:cNvGrpSpPr/>
          <p:nvPr/>
        </p:nvGrpSpPr>
        <p:grpSpPr>
          <a:xfrm>
            <a:off x="1627239" y="3119284"/>
            <a:ext cx="693174" cy="619432"/>
            <a:chOff x="4807974" y="530942"/>
            <a:chExt cx="693174" cy="61943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1006336-2DA6-680C-39F7-03F34C0D76CC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F5C357-11BF-0AE5-1D54-38E492511F69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D800E1A-07CA-A9F7-49CC-E06F4B9BCB64}"/>
              </a:ext>
            </a:extLst>
          </p:cNvPr>
          <p:cNvGrpSpPr/>
          <p:nvPr/>
        </p:nvGrpSpPr>
        <p:grpSpPr>
          <a:xfrm>
            <a:off x="2787445" y="3119284"/>
            <a:ext cx="693174" cy="619432"/>
            <a:chOff x="4807974" y="530942"/>
            <a:chExt cx="693174" cy="619432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D6DA9C2-369F-B730-4815-41EE32CE1BF2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D2E478B-0AD3-18D5-2854-1BE026F61E02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5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1AB9517-7328-8D0A-DB37-F623F1B6A804}"/>
              </a:ext>
            </a:extLst>
          </p:cNvPr>
          <p:cNvGrpSpPr/>
          <p:nvPr/>
        </p:nvGrpSpPr>
        <p:grpSpPr>
          <a:xfrm>
            <a:off x="3947651" y="3119284"/>
            <a:ext cx="693174" cy="619432"/>
            <a:chOff x="4807974" y="530942"/>
            <a:chExt cx="693174" cy="61943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6F41144-66F3-97F6-3A02-5EC507B8C4AD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7ED6831-E6E7-F031-75EB-959507524E3F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5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62330D9-6B19-0266-E852-BC847FB59034}"/>
              </a:ext>
            </a:extLst>
          </p:cNvPr>
          <p:cNvGrpSpPr/>
          <p:nvPr/>
        </p:nvGrpSpPr>
        <p:grpSpPr>
          <a:xfrm>
            <a:off x="6961239" y="3119284"/>
            <a:ext cx="693174" cy="619432"/>
            <a:chOff x="4807974" y="530942"/>
            <a:chExt cx="693174" cy="61943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DB7B6C2-ED15-5F36-F2FF-1BA1B42D6174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FA95CD2-C203-FCF9-0E74-E21B83576C27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2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262609F-4B36-FFE7-1B12-5EAB36C092D3}"/>
              </a:ext>
            </a:extLst>
          </p:cNvPr>
          <p:cNvGrpSpPr/>
          <p:nvPr/>
        </p:nvGrpSpPr>
        <p:grpSpPr>
          <a:xfrm>
            <a:off x="8455743" y="3119284"/>
            <a:ext cx="693174" cy="619432"/>
            <a:chOff x="4807974" y="530942"/>
            <a:chExt cx="693174" cy="61943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40355B2-5770-E765-B250-F5213BA13012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90726B8-6AFC-0AD2-BD60-D6CA5634CB09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9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523024-DC61-780F-2D46-8B42CD2DC173}"/>
              </a:ext>
            </a:extLst>
          </p:cNvPr>
          <p:cNvCxnSpPr>
            <a:stCxn id="4" idx="3"/>
            <a:endCxn id="9" idx="7"/>
          </p:cNvCxnSpPr>
          <p:nvPr/>
        </p:nvCxnSpPr>
        <p:spPr>
          <a:xfrm flipH="1">
            <a:off x="3379106" y="1059660"/>
            <a:ext cx="1530381" cy="8647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5B26A38-23F0-29B7-D5E6-EDBC718EA3E7}"/>
              </a:ext>
            </a:extLst>
          </p:cNvPr>
          <p:cNvCxnSpPr>
            <a:cxnSpLocks/>
            <a:stCxn id="9" idx="3"/>
            <a:endCxn id="24" idx="7"/>
          </p:cNvCxnSpPr>
          <p:nvPr/>
        </p:nvCxnSpPr>
        <p:spPr>
          <a:xfrm flipH="1">
            <a:off x="2218900" y="2362434"/>
            <a:ext cx="670058" cy="84756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F4B456A-8101-7F25-2B14-6E5A86437B99}"/>
              </a:ext>
            </a:extLst>
          </p:cNvPr>
          <p:cNvCxnSpPr>
            <a:cxnSpLocks/>
            <a:stCxn id="27" idx="0"/>
            <a:endCxn id="9" idx="4"/>
          </p:cNvCxnSpPr>
          <p:nvPr/>
        </p:nvCxnSpPr>
        <p:spPr>
          <a:xfrm flipV="1">
            <a:off x="3134032" y="2453148"/>
            <a:ext cx="0" cy="66613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16BCB7F-4632-4907-D3D0-A18A86D72A64}"/>
              </a:ext>
            </a:extLst>
          </p:cNvPr>
          <p:cNvCxnSpPr>
            <a:cxnSpLocks/>
            <a:stCxn id="30" idx="0"/>
            <a:endCxn id="9" idx="5"/>
          </p:cNvCxnSpPr>
          <p:nvPr/>
        </p:nvCxnSpPr>
        <p:spPr>
          <a:xfrm flipH="1" flipV="1">
            <a:off x="3379106" y="2362434"/>
            <a:ext cx="915132" cy="75685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F0EC52B-C1DA-2A50-5BEC-0F056A23B9BE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3116825" y="3738716"/>
            <a:ext cx="17207" cy="76875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34FA00-E15F-C62C-F05E-C1027D93A877}"/>
              </a:ext>
            </a:extLst>
          </p:cNvPr>
          <p:cNvCxnSpPr>
            <a:cxnSpLocks/>
            <a:stCxn id="12" idx="0"/>
            <a:endCxn id="15" idx="5"/>
          </p:cNvCxnSpPr>
          <p:nvPr/>
        </p:nvCxnSpPr>
        <p:spPr>
          <a:xfrm flipH="1" flipV="1">
            <a:off x="5365222" y="2362434"/>
            <a:ext cx="448100" cy="75685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66552BD-7EC3-3822-BADB-5CAA7F454EEE}"/>
              </a:ext>
            </a:extLst>
          </p:cNvPr>
          <p:cNvCxnSpPr>
            <a:cxnSpLocks/>
          </p:cNvCxnSpPr>
          <p:nvPr/>
        </p:nvCxnSpPr>
        <p:spPr>
          <a:xfrm flipV="1">
            <a:off x="5154561" y="1150374"/>
            <a:ext cx="0" cy="66613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4F047D4-D52B-7133-DA12-513AE1BBBB4F}"/>
              </a:ext>
            </a:extLst>
          </p:cNvPr>
          <p:cNvCxnSpPr>
            <a:cxnSpLocks/>
            <a:stCxn id="21" idx="0"/>
            <a:endCxn id="4" idx="5"/>
          </p:cNvCxnSpPr>
          <p:nvPr/>
        </p:nvCxnSpPr>
        <p:spPr>
          <a:xfrm flipH="1" flipV="1">
            <a:off x="5399635" y="1059660"/>
            <a:ext cx="2306397" cy="77405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AAAA5B4-2950-1190-5106-28B1069F26D9}"/>
              </a:ext>
            </a:extLst>
          </p:cNvPr>
          <p:cNvCxnSpPr>
            <a:cxnSpLocks/>
            <a:stCxn id="33" idx="0"/>
            <a:endCxn id="21" idx="4"/>
          </p:cNvCxnSpPr>
          <p:nvPr/>
        </p:nvCxnSpPr>
        <p:spPr>
          <a:xfrm flipV="1">
            <a:off x="7307826" y="2453148"/>
            <a:ext cx="398206" cy="66613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A4F0DE0-6BEA-8157-28E0-B1224BBAE495}"/>
              </a:ext>
            </a:extLst>
          </p:cNvPr>
          <p:cNvCxnSpPr>
            <a:cxnSpLocks/>
            <a:stCxn id="36" idx="0"/>
            <a:endCxn id="21" idx="5"/>
          </p:cNvCxnSpPr>
          <p:nvPr/>
        </p:nvCxnSpPr>
        <p:spPr>
          <a:xfrm flipH="1" flipV="1">
            <a:off x="7951106" y="2362434"/>
            <a:ext cx="851224" cy="75685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FE535FA-3F38-0A15-6678-3C591366F178}"/>
              </a:ext>
            </a:extLst>
          </p:cNvPr>
          <p:cNvSpPr txBox="1"/>
          <p:nvPr/>
        </p:nvSpPr>
        <p:spPr>
          <a:xfrm>
            <a:off x="4534396" y="70196"/>
            <a:ext cx="1251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/>
              <a:t>Root  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F3E8D0-36FD-9C20-F725-8E70B7D8CE00}"/>
              </a:ext>
            </a:extLst>
          </p:cNvPr>
          <p:cNvSpPr txBox="1"/>
          <p:nvPr/>
        </p:nvSpPr>
        <p:spPr>
          <a:xfrm>
            <a:off x="4294238" y="51922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FD5C64-AF34-E141-B047-B384A0A48385}"/>
              </a:ext>
            </a:extLst>
          </p:cNvPr>
          <p:cNvSpPr txBox="1"/>
          <p:nvPr/>
        </p:nvSpPr>
        <p:spPr>
          <a:xfrm>
            <a:off x="2270520" y="1956308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A0361D-384A-DBDC-755F-C9D4BAFFFD13}"/>
              </a:ext>
            </a:extLst>
          </p:cNvPr>
          <p:cNvSpPr txBox="1"/>
          <p:nvPr/>
        </p:nvSpPr>
        <p:spPr>
          <a:xfrm>
            <a:off x="4104236" y="1941598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7F489B-5E43-1062-B73F-6FC22F1FA2E0}"/>
              </a:ext>
            </a:extLst>
          </p:cNvPr>
          <p:cNvSpPr txBox="1"/>
          <p:nvPr/>
        </p:nvSpPr>
        <p:spPr>
          <a:xfrm>
            <a:off x="6750315" y="202129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94987A-726F-F8BF-4178-9228F7CF3D97}"/>
              </a:ext>
            </a:extLst>
          </p:cNvPr>
          <p:cNvSpPr txBox="1"/>
          <p:nvPr/>
        </p:nvSpPr>
        <p:spPr>
          <a:xfrm>
            <a:off x="1052052" y="3251535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51E8C0-FB6E-6AE2-C7E0-382BED37A138}"/>
              </a:ext>
            </a:extLst>
          </p:cNvPr>
          <p:cNvSpPr txBox="1"/>
          <p:nvPr/>
        </p:nvSpPr>
        <p:spPr>
          <a:xfrm>
            <a:off x="2298496" y="322504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82D32D-8887-2DAB-7832-92AD58FC353B}"/>
              </a:ext>
            </a:extLst>
          </p:cNvPr>
          <p:cNvSpPr txBox="1"/>
          <p:nvPr/>
        </p:nvSpPr>
        <p:spPr>
          <a:xfrm>
            <a:off x="3475703" y="3253876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B4E85AA-E1BD-A33D-A210-2B1AA3C19807}"/>
              </a:ext>
            </a:extLst>
          </p:cNvPr>
          <p:cNvSpPr txBox="1"/>
          <p:nvPr/>
        </p:nvSpPr>
        <p:spPr>
          <a:xfrm>
            <a:off x="4866967" y="3244334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7ADD502-FC50-56EC-096A-75B036F95FA2}"/>
              </a:ext>
            </a:extLst>
          </p:cNvPr>
          <p:cNvSpPr txBox="1"/>
          <p:nvPr/>
        </p:nvSpPr>
        <p:spPr>
          <a:xfrm>
            <a:off x="6494939" y="322504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4691EE2-1DED-923D-5BED-FA90E4FE8794}"/>
              </a:ext>
            </a:extLst>
          </p:cNvPr>
          <p:cNvSpPr txBox="1"/>
          <p:nvPr/>
        </p:nvSpPr>
        <p:spPr>
          <a:xfrm>
            <a:off x="7793294" y="3239184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1FEC638-3E8A-C0B4-44EB-EA62FE2C651C}"/>
              </a:ext>
            </a:extLst>
          </p:cNvPr>
          <p:cNvSpPr txBox="1"/>
          <p:nvPr/>
        </p:nvSpPr>
        <p:spPr>
          <a:xfrm>
            <a:off x="2202426" y="4627879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254B979-B7A0-5A58-012F-7E649CFFA9C3}"/>
              </a:ext>
            </a:extLst>
          </p:cNvPr>
          <p:cNvSpPr txBox="1"/>
          <p:nvPr/>
        </p:nvSpPr>
        <p:spPr>
          <a:xfrm>
            <a:off x="9429136" y="439528"/>
            <a:ext cx="273705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Node</a:t>
            </a:r>
            <a:r>
              <a:rPr lang="en-US" dirty="0"/>
              <a:t>   </a:t>
            </a:r>
            <a:r>
              <a:rPr lang="en-US" b="1" dirty="0"/>
              <a:t>Parent</a:t>
            </a:r>
            <a:r>
              <a:rPr lang="en-US" dirty="0"/>
              <a:t>    </a:t>
            </a:r>
            <a:r>
              <a:rPr lang="en-US" b="1" dirty="0"/>
              <a:t>Weight</a:t>
            </a:r>
          </a:p>
          <a:p>
            <a:r>
              <a:rPr lang="en-US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1</a:t>
            </a:r>
            <a:r>
              <a:rPr lang="pl-PL" dirty="0"/>
              <a:t>: p=0 (root), w=15</a:t>
            </a:r>
          </a:p>
          <a:p>
            <a:endParaRPr lang="pl-PL" dirty="0"/>
          </a:p>
          <a:p>
            <a:r>
              <a:rPr lang="pl-PL" dirty="0"/>
              <a:t>Node</a:t>
            </a:r>
            <a:r>
              <a:rPr lang="pl-PL" b="1" dirty="0">
                <a:solidFill>
                  <a:srgbClr val="FF0000"/>
                </a:solidFill>
              </a:rPr>
              <a:t> 2</a:t>
            </a:r>
            <a:r>
              <a:rPr lang="pl-PL" dirty="0"/>
              <a:t>: p=1, w=8</a:t>
            </a:r>
          </a:p>
          <a:p>
            <a:endParaRPr lang="pl-PL" dirty="0"/>
          </a:p>
          <a:p>
            <a:r>
              <a:rPr lang="pl-PL" dirty="0"/>
              <a:t>Node</a:t>
            </a:r>
            <a:r>
              <a:rPr lang="pl-PL" b="1" dirty="0">
                <a:solidFill>
                  <a:srgbClr val="FF0000"/>
                </a:solidFill>
              </a:rPr>
              <a:t> 3</a:t>
            </a:r>
            <a:r>
              <a:rPr lang="pl-PL" dirty="0"/>
              <a:t>: p=1, w=16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4</a:t>
            </a:r>
            <a:r>
              <a:rPr lang="pl-PL" dirty="0"/>
              <a:t>: p=1, w=18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5</a:t>
            </a:r>
            <a:r>
              <a:rPr lang="pl-PL" dirty="0"/>
              <a:t>: p=2, w=3</a:t>
            </a:r>
          </a:p>
          <a:p>
            <a:endParaRPr lang="pl-PL" dirty="0"/>
          </a:p>
          <a:p>
            <a:r>
              <a:rPr lang="pl-PL" dirty="0"/>
              <a:t>Node</a:t>
            </a:r>
            <a:r>
              <a:rPr lang="pl-PL" b="1" dirty="0">
                <a:solidFill>
                  <a:srgbClr val="FF0000"/>
                </a:solidFill>
              </a:rPr>
              <a:t> 6</a:t>
            </a:r>
            <a:r>
              <a:rPr lang="pl-PL" dirty="0"/>
              <a:t>: p=2, w=5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7</a:t>
            </a:r>
            <a:r>
              <a:rPr lang="pl-PL" dirty="0"/>
              <a:t>: p=2, w=5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8</a:t>
            </a:r>
            <a:r>
              <a:rPr lang="pl-PL" dirty="0"/>
              <a:t>: p=3, w=7</a:t>
            </a:r>
          </a:p>
          <a:p>
            <a:endParaRPr lang="pl-PL" dirty="0"/>
          </a:p>
          <a:p>
            <a:r>
              <a:rPr lang="pl-PL" dirty="0"/>
              <a:t>Node</a:t>
            </a:r>
            <a:r>
              <a:rPr lang="pl-PL" b="1" dirty="0">
                <a:solidFill>
                  <a:srgbClr val="FF0000"/>
                </a:solidFill>
              </a:rPr>
              <a:t> 9</a:t>
            </a:r>
            <a:r>
              <a:rPr lang="pl-PL" dirty="0"/>
              <a:t>: p=4, w=2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10</a:t>
            </a:r>
            <a:r>
              <a:rPr lang="pl-PL" dirty="0"/>
              <a:t>: p=4, w=9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11</a:t>
            </a:r>
            <a:r>
              <a:rPr lang="pl-PL" dirty="0"/>
              <a:t>: p=6, w=4</a:t>
            </a:r>
            <a:endParaRPr lang="en-US" dirty="0"/>
          </a:p>
        </p:txBody>
      </p:sp>
      <p:pic>
        <p:nvPicPr>
          <p:cNvPr id="85" name="Picture 84" descr="A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7680F16B-CF06-A29D-1997-74E7F2E7C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52" y="5251950"/>
            <a:ext cx="7316429" cy="1606050"/>
          </a:xfrm>
          <a:prstGeom prst="rect">
            <a:avLst/>
          </a:prstGeom>
        </p:spPr>
      </p:pic>
      <p:sp>
        <p:nvSpPr>
          <p:cNvPr id="87" name="Title 1">
            <a:extLst>
              <a:ext uri="{FF2B5EF4-FFF2-40B4-BE49-F238E27FC236}">
                <a16:creationId xmlns:a16="http://schemas.microsoft.com/office/drawing/2014/main" id="{84408789-B255-CC7B-D384-1615B4F94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0" y="-23846"/>
            <a:ext cx="3449893" cy="9817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/>
              <a:t>Given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C6223-FE9F-171D-2CFD-43C3782404CB}"/>
              </a:ext>
            </a:extLst>
          </p:cNvPr>
          <p:cNvSpPr txBox="1"/>
          <p:nvPr/>
        </p:nvSpPr>
        <p:spPr>
          <a:xfrm>
            <a:off x="5855972" y="4553768"/>
            <a:ext cx="272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3+5+5+15+7+2+9=46</a:t>
            </a:r>
          </a:p>
        </p:txBody>
      </p:sp>
    </p:spTree>
    <p:extLst>
      <p:ext uri="{BB962C8B-B14F-4D97-AF65-F5344CB8AC3E}">
        <p14:creationId xmlns:p14="http://schemas.microsoft.com/office/powerpoint/2010/main" val="1890181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38126-E40E-17AD-81B2-46FAAB0E2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4EDCAF3-2E6F-E2A0-C3CD-18C0D7348503}"/>
              </a:ext>
            </a:extLst>
          </p:cNvPr>
          <p:cNvGrpSpPr/>
          <p:nvPr/>
        </p:nvGrpSpPr>
        <p:grpSpPr>
          <a:xfrm>
            <a:off x="4807974" y="530942"/>
            <a:ext cx="693174" cy="619432"/>
            <a:chOff x="4807974" y="530942"/>
            <a:chExt cx="693174" cy="61943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A27DE99-59D4-577E-6AE0-04ECA6D931D1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42F59C-0A1C-10E1-BA21-482CFBE3215D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8B12EFE-F433-B7C7-F4A2-B10295DCA41F}"/>
              </a:ext>
            </a:extLst>
          </p:cNvPr>
          <p:cNvGrpSpPr/>
          <p:nvPr/>
        </p:nvGrpSpPr>
        <p:grpSpPr>
          <a:xfrm>
            <a:off x="2787445" y="1833716"/>
            <a:ext cx="693174" cy="619432"/>
            <a:chOff x="4807974" y="530942"/>
            <a:chExt cx="693174" cy="61943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C4DC7A4-95C7-BCDA-DC9A-38CB02609C04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608F8FB-06AD-5E3D-CEE7-303B37C45911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8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D7FEA2-51C5-051E-4B57-6B568097A52A}"/>
              </a:ext>
            </a:extLst>
          </p:cNvPr>
          <p:cNvGrpSpPr/>
          <p:nvPr/>
        </p:nvGrpSpPr>
        <p:grpSpPr>
          <a:xfrm>
            <a:off x="5466735" y="3119284"/>
            <a:ext cx="693174" cy="619432"/>
            <a:chOff x="4807974" y="530942"/>
            <a:chExt cx="693174" cy="61943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8182847-BDCA-2845-788A-4C219F6E97D0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4AE5AB-F57D-BDCE-09A9-0F13298BE446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7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7EBF3A-E0D1-BC06-6CB7-DA66083B945E}"/>
              </a:ext>
            </a:extLst>
          </p:cNvPr>
          <p:cNvGrpSpPr/>
          <p:nvPr/>
        </p:nvGrpSpPr>
        <p:grpSpPr>
          <a:xfrm>
            <a:off x="4773561" y="1833716"/>
            <a:ext cx="693174" cy="619432"/>
            <a:chOff x="4807974" y="530942"/>
            <a:chExt cx="693174" cy="61943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D9BBEF6-5365-03FE-805B-3FE13BEF06B5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80C4A0-6E28-9684-2E6E-80F64944306E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ED8D6F2-54E0-1BA8-ED6E-546B911B4D98}"/>
              </a:ext>
            </a:extLst>
          </p:cNvPr>
          <p:cNvGrpSpPr/>
          <p:nvPr/>
        </p:nvGrpSpPr>
        <p:grpSpPr>
          <a:xfrm>
            <a:off x="2787445" y="4507467"/>
            <a:ext cx="693174" cy="619432"/>
            <a:chOff x="4807974" y="530942"/>
            <a:chExt cx="693174" cy="61943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46E445C-4F3F-EF38-642F-9CDBB11A9E6D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6EF6D4-7613-1B56-7B08-3E43B53C46D4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4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9B6C5D-5E2F-8B8E-3D85-1A0C9BA6B4D5}"/>
              </a:ext>
            </a:extLst>
          </p:cNvPr>
          <p:cNvGrpSpPr/>
          <p:nvPr/>
        </p:nvGrpSpPr>
        <p:grpSpPr>
          <a:xfrm>
            <a:off x="7359445" y="1833716"/>
            <a:ext cx="693174" cy="619432"/>
            <a:chOff x="4807974" y="530942"/>
            <a:chExt cx="693174" cy="6194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D5C85DF-E6BF-29F2-29F8-9488751186A6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87049C6-9C53-BFB0-97AC-1C6D6F43DCEC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D4753EC-BC40-BF86-A24C-B6BA7361963A}"/>
              </a:ext>
            </a:extLst>
          </p:cNvPr>
          <p:cNvGrpSpPr/>
          <p:nvPr/>
        </p:nvGrpSpPr>
        <p:grpSpPr>
          <a:xfrm>
            <a:off x="1627239" y="3119284"/>
            <a:ext cx="693174" cy="619432"/>
            <a:chOff x="4807974" y="530942"/>
            <a:chExt cx="693174" cy="619432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044C4A8-B36F-0888-3F37-AE9E31269FE5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0987E14-C45B-3FB6-5C04-728B72BADD77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DFE01A-BB05-E3D5-C48E-BDEE1432C389}"/>
              </a:ext>
            </a:extLst>
          </p:cNvPr>
          <p:cNvGrpSpPr/>
          <p:nvPr/>
        </p:nvGrpSpPr>
        <p:grpSpPr>
          <a:xfrm>
            <a:off x="2787445" y="3119284"/>
            <a:ext cx="693174" cy="619432"/>
            <a:chOff x="4807974" y="530942"/>
            <a:chExt cx="693174" cy="619432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D382B49-F705-6E82-E0E2-32AF3A8D2BE2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05FD707-E315-8070-49EC-976EA45255B1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5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5E4A92-24CA-2F57-BB1F-4DFA18B27BD8}"/>
              </a:ext>
            </a:extLst>
          </p:cNvPr>
          <p:cNvGrpSpPr/>
          <p:nvPr/>
        </p:nvGrpSpPr>
        <p:grpSpPr>
          <a:xfrm>
            <a:off x="3947651" y="3119284"/>
            <a:ext cx="693174" cy="619432"/>
            <a:chOff x="4807974" y="530942"/>
            <a:chExt cx="693174" cy="61943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8AF11BD-F273-1267-C796-80D6F1613F8C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CAC9DF-A883-E1AA-0FB5-2D0D20BC06A4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5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F7165B5-59F6-F1F8-DB41-81189B78924C}"/>
              </a:ext>
            </a:extLst>
          </p:cNvPr>
          <p:cNvGrpSpPr/>
          <p:nvPr/>
        </p:nvGrpSpPr>
        <p:grpSpPr>
          <a:xfrm>
            <a:off x="6961239" y="3119284"/>
            <a:ext cx="693174" cy="619432"/>
            <a:chOff x="4807974" y="530942"/>
            <a:chExt cx="693174" cy="619432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5C7DAFD-0CF2-B519-5170-713ADC1D00B9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0E2A25C-B298-2BBE-3B7C-BFEE71D246B1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2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FDE753A-13A1-993A-68FB-6E8C1765538A}"/>
              </a:ext>
            </a:extLst>
          </p:cNvPr>
          <p:cNvGrpSpPr/>
          <p:nvPr/>
        </p:nvGrpSpPr>
        <p:grpSpPr>
          <a:xfrm>
            <a:off x="8455743" y="3119284"/>
            <a:ext cx="693174" cy="619432"/>
            <a:chOff x="4807974" y="530942"/>
            <a:chExt cx="693174" cy="619432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88B5791-DC43-CA7D-42AF-2691D1478022}"/>
                </a:ext>
              </a:extLst>
            </p:cNvPr>
            <p:cNvSpPr/>
            <p:nvPr/>
          </p:nvSpPr>
          <p:spPr>
            <a:xfrm>
              <a:off x="4807974" y="530942"/>
              <a:ext cx="693174" cy="6194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D33DE72-941E-8015-B24D-AE69A4E24A4F}"/>
                </a:ext>
              </a:extLst>
            </p:cNvPr>
            <p:cNvSpPr txBox="1"/>
            <p:nvPr/>
          </p:nvSpPr>
          <p:spPr>
            <a:xfrm>
              <a:off x="4925961" y="65599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9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9886481-A4EB-B9B2-BE3A-92681E9A7F82}"/>
              </a:ext>
            </a:extLst>
          </p:cNvPr>
          <p:cNvCxnSpPr>
            <a:stCxn id="4" idx="3"/>
            <a:endCxn id="9" idx="7"/>
          </p:cNvCxnSpPr>
          <p:nvPr/>
        </p:nvCxnSpPr>
        <p:spPr>
          <a:xfrm flipH="1">
            <a:off x="3379106" y="1059660"/>
            <a:ext cx="1530381" cy="86477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A73C58B-7354-747E-3F85-26ADE2E5CD4A}"/>
              </a:ext>
            </a:extLst>
          </p:cNvPr>
          <p:cNvCxnSpPr>
            <a:cxnSpLocks/>
            <a:stCxn id="9" idx="3"/>
            <a:endCxn id="24" idx="7"/>
          </p:cNvCxnSpPr>
          <p:nvPr/>
        </p:nvCxnSpPr>
        <p:spPr>
          <a:xfrm flipH="1">
            <a:off x="2218900" y="2362434"/>
            <a:ext cx="670058" cy="84756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EFDCEAC-D70E-B8C8-878E-237834341028}"/>
              </a:ext>
            </a:extLst>
          </p:cNvPr>
          <p:cNvCxnSpPr>
            <a:cxnSpLocks/>
            <a:stCxn id="27" idx="0"/>
            <a:endCxn id="9" idx="4"/>
          </p:cNvCxnSpPr>
          <p:nvPr/>
        </p:nvCxnSpPr>
        <p:spPr>
          <a:xfrm flipV="1">
            <a:off x="3134032" y="2453148"/>
            <a:ext cx="0" cy="66613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6BE8472-B88B-4F14-43F1-827DB453C22A}"/>
              </a:ext>
            </a:extLst>
          </p:cNvPr>
          <p:cNvCxnSpPr>
            <a:cxnSpLocks/>
            <a:stCxn id="30" idx="0"/>
            <a:endCxn id="9" idx="5"/>
          </p:cNvCxnSpPr>
          <p:nvPr/>
        </p:nvCxnSpPr>
        <p:spPr>
          <a:xfrm flipH="1" flipV="1">
            <a:off x="3379106" y="2362434"/>
            <a:ext cx="915132" cy="75685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65F4E52-CD9A-8151-793E-B0B11D73CAB6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3116825" y="3738716"/>
            <a:ext cx="17207" cy="76875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D19717A-8185-AFF5-8B41-B4B2B9C64EDC}"/>
              </a:ext>
            </a:extLst>
          </p:cNvPr>
          <p:cNvCxnSpPr>
            <a:cxnSpLocks/>
            <a:stCxn id="12" idx="0"/>
            <a:endCxn id="15" idx="5"/>
          </p:cNvCxnSpPr>
          <p:nvPr/>
        </p:nvCxnSpPr>
        <p:spPr>
          <a:xfrm flipH="1" flipV="1">
            <a:off x="5365222" y="2362434"/>
            <a:ext cx="448100" cy="75685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E461327-7C06-A15C-C865-291D0A02FABC}"/>
              </a:ext>
            </a:extLst>
          </p:cNvPr>
          <p:cNvCxnSpPr>
            <a:cxnSpLocks/>
          </p:cNvCxnSpPr>
          <p:nvPr/>
        </p:nvCxnSpPr>
        <p:spPr>
          <a:xfrm flipV="1">
            <a:off x="5154561" y="1150374"/>
            <a:ext cx="0" cy="66613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6A38E72-B012-55B8-D697-E0160652E3B4}"/>
              </a:ext>
            </a:extLst>
          </p:cNvPr>
          <p:cNvCxnSpPr>
            <a:cxnSpLocks/>
            <a:stCxn id="21" idx="0"/>
            <a:endCxn id="4" idx="5"/>
          </p:cNvCxnSpPr>
          <p:nvPr/>
        </p:nvCxnSpPr>
        <p:spPr>
          <a:xfrm flipH="1" flipV="1">
            <a:off x="5399635" y="1059660"/>
            <a:ext cx="2306397" cy="77405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05D89E-90D3-4558-B5D0-C6D784B1A624}"/>
              </a:ext>
            </a:extLst>
          </p:cNvPr>
          <p:cNvCxnSpPr>
            <a:cxnSpLocks/>
            <a:stCxn id="33" idx="0"/>
            <a:endCxn id="21" idx="4"/>
          </p:cNvCxnSpPr>
          <p:nvPr/>
        </p:nvCxnSpPr>
        <p:spPr>
          <a:xfrm flipV="1">
            <a:off x="7307826" y="2453148"/>
            <a:ext cx="398206" cy="666136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35A8806-2C52-52D5-447B-C628C50C3639}"/>
              </a:ext>
            </a:extLst>
          </p:cNvPr>
          <p:cNvCxnSpPr>
            <a:cxnSpLocks/>
            <a:stCxn id="36" idx="0"/>
            <a:endCxn id="21" idx="5"/>
          </p:cNvCxnSpPr>
          <p:nvPr/>
        </p:nvCxnSpPr>
        <p:spPr>
          <a:xfrm flipH="1" flipV="1">
            <a:off x="7951106" y="2362434"/>
            <a:ext cx="851224" cy="75685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A852D88-67BF-A730-ED7E-C3939C18E679}"/>
              </a:ext>
            </a:extLst>
          </p:cNvPr>
          <p:cNvSpPr txBox="1"/>
          <p:nvPr/>
        </p:nvSpPr>
        <p:spPr>
          <a:xfrm>
            <a:off x="4534396" y="70196"/>
            <a:ext cx="1251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/>
              <a:t>Root  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8AB88F6-CFAC-F26F-B31A-D1BFAAD584D6}"/>
              </a:ext>
            </a:extLst>
          </p:cNvPr>
          <p:cNvSpPr txBox="1"/>
          <p:nvPr/>
        </p:nvSpPr>
        <p:spPr>
          <a:xfrm>
            <a:off x="4294238" y="51922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157999-D0B3-3165-812A-FD94363FF098}"/>
              </a:ext>
            </a:extLst>
          </p:cNvPr>
          <p:cNvSpPr txBox="1"/>
          <p:nvPr/>
        </p:nvSpPr>
        <p:spPr>
          <a:xfrm>
            <a:off x="2270520" y="1956308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888A6C-01B8-AC56-B720-FB806CED70A3}"/>
              </a:ext>
            </a:extLst>
          </p:cNvPr>
          <p:cNvSpPr txBox="1"/>
          <p:nvPr/>
        </p:nvSpPr>
        <p:spPr>
          <a:xfrm>
            <a:off x="4104236" y="1941598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E4A5563-D451-C109-24B7-A254E692D49B}"/>
              </a:ext>
            </a:extLst>
          </p:cNvPr>
          <p:cNvSpPr txBox="1"/>
          <p:nvPr/>
        </p:nvSpPr>
        <p:spPr>
          <a:xfrm>
            <a:off x="6750315" y="202129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CE8F7C2-CBB7-E65D-54B7-144F15CEFC7C}"/>
              </a:ext>
            </a:extLst>
          </p:cNvPr>
          <p:cNvSpPr txBox="1"/>
          <p:nvPr/>
        </p:nvSpPr>
        <p:spPr>
          <a:xfrm>
            <a:off x="1052052" y="3251535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CCBDBA5-6DC7-F2C8-0174-5CE1144479E6}"/>
              </a:ext>
            </a:extLst>
          </p:cNvPr>
          <p:cNvSpPr txBox="1"/>
          <p:nvPr/>
        </p:nvSpPr>
        <p:spPr>
          <a:xfrm>
            <a:off x="2298496" y="322504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F1FBA6-CF9B-9C54-0E47-C0D83CAA165F}"/>
              </a:ext>
            </a:extLst>
          </p:cNvPr>
          <p:cNvSpPr txBox="1"/>
          <p:nvPr/>
        </p:nvSpPr>
        <p:spPr>
          <a:xfrm>
            <a:off x="3475703" y="3253876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3EBDD43-21F0-416D-65C5-1F346779F73F}"/>
              </a:ext>
            </a:extLst>
          </p:cNvPr>
          <p:cNvSpPr txBox="1"/>
          <p:nvPr/>
        </p:nvSpPr>
        <p:spPr>
          <a:xfrm>
            <a:off x="4866967" y="3244334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03D479-015E-652C-8B73-1800D7424784}"/>
              </a:ext>
            </a:extLst>
          </p:cNvPr>
          <p:cNvSpPr txBox="1"/>
          <p:nvPr/>
        </p:nvSpPr>
        <p:spPr>
          <a:xfrm>
            <a:off x="6494939" y="322504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0D35D19-EFE7-DB11-5D8F-F629443354F4}"/>
              </a:ext>
            </a:extLst>
          </p:cNvPr>
          <p:cNvSpPr txBox="1"/>
          <p:nvPr/>
        </p:nvSpPr>
        <p:spPr>
          <a:xfrm>
            <a:off x="7793294" y="3239184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67A58E-4111-8FC4-4775-77DD1B5DB845}"/>
              </a:ext>
            </a:extLst>
          </p:cNvPr>
          <p:cNvSpPr txBox="1"/>
          <p:nvPr/>
        </p:nvSpPr>
        <p:spPr>
          <a:xfrm>
            <a:off x="2202426" y="4627879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9CEDD1-9531-03C6-DEE7-D160920F8467}"/>
              </a:ext>
            </a:extLst>
          </p:cNvPr>
          <p:cNvSpPr txBox="1"/>
          <p:nvPr/>
        </p:nvSpPr>
        <p:spPr>
          <a:xfrm>
            <a:off x="9429136" y="439528"/>
            <a:ext cx="273705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Node</a:t>
            </a:r>
            <a:r>
              <a:rPr lang="en-US" dirty="0"/>
              <a:t>   </a:t>
            </a:r>
            <a:r>
              <a:rPr lang="en-US" b="1" dirty="0"/>
              <a:t>Parent</a:t>
            </a:r>
            <a:r>
              <a:rPr lang="en-US" dirty="0"/>
              <a:t>    </a:t>
            </a:r>
            <a:r>
              <a:rPr lang="en-US" b="1" dirty="0"/>
              <a:t>Weight</a:t>
            </a:r>
          </a:p>
          <a:p>
            <a:r>
              <a:rPr lang="en-US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1</a:t>
            </a:r>
            <a:r>
              <a:rPr lang="pl-PL" dirty="0"/>
              <a:t>: p=0 (root), w=15</a:t>
            </a:r>
          </a:p>
          <a:p>
            <a:endParaRPr lang="pl-PL" dirty="0"/>
          </a:p>
          <a:p>
            <a:r>
              <a:rPr lang="pl-PL" dirty="0"/>
              <a:t>Node</a:t>
            </a:r>
            <a:r>
              <a:rPr lang="pl-PL" b="1" dirty="0">
                <a:solidFill>
                  <a:srgbClr val="FF0000"/>
                </a:solidFill>
              </a:rPr>
              <a:t> 2</a:t>
            </a:r>
            <a:r>
              <a:rPr lang="pl-PL" dirty="0"/>
              <a:t>: p=1, w=8</a:t>
            </a:r>
          </a:p>
          <a:p>
            <a:endParaRPr lang="pl-PL" dirty="0"/>
          </a:p>
          <a:p>
            <a:r>
              <a:rPr lang="pl-PL" dirty="0"/>
              <a:t>Node</a:t>
            </a:r>
            <a:r>
              <a:rPr lang="pl-PL" b="1" dirty="0">
                <a:solidFill>
                  <a:srgbClr val="FF0000"/>
                </a:solidFill>
              </a:rPr>
              <a:t> 3</a:t>
            </a:r>
            <a:r>
              <a:rPr lang="pl-PL" dirty="0"/>
              <a:t>: p=1, w=16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4</a:t>
            </a:r>
            <a:r>
              <a:rPr lang="pl-PL" dirty="0"/>
              <a:t>: p=1, w=18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5</a:t>
            </a:r>
            <a:r>
              <a:rPr lang="pl-PL" dirty="0"/>
              <a:t>: p=2, w=3</a:t>
            </a:r>
          </a:p>
          <a:p>
            <a:endParaRPr lang="pl-PL" dirty="0"/>
          </a:p>
          <a:p>
            <a:r>
              <a:rPr lang="pl-PL" dirty="0"/>
              <a:t>Node</a:t>
            </a:r>
            <a:r>
              <a:rPr lang="pl-PL" b="1" dirty="0">
                <a:solidFill>
                  <a:srgbClr val="FF0000"/>
                </a:solidFill>
              </a:rPr>
              <a:t> 6</a:t>
            </a:r>
            <a:r>
              <a:rPr lang="pl-PL" dirty="0"/>
              <a:t>: p=2, w=5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7</a:t>
            </a:r>
            <a:r>
              <a:rPr lang="pl-PL" dirty="0"/>
              <a:t>: p=2, w=5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8</a:t>
            </a:r>
            <a:r>
              <a:rPr lang="pl-PL" dirty="0"/>
              <a:t>: p=3, w=7</a:t>
            </a:r>
          </a:p>
          <a:p>
            <a:endParaRPr lang="pl-PL" dirty="0"/>
          </a:p>
          <a:p>
            <a:r>
              <a:rPr lang="pl-PL" dirty="0"/>
              <a:t>Node</a:t>
            </a:r>
            <a:r>
              <a:rPr lang="pl-PL" b="1" dirty="0">
                <a:solidFill>
                  <a:srgbClr val="FF0000"/>
                </a:solidFill>
              </a:rPr>
              <a:t> 9</a:t>
            </a:r>
            <a:r>
              <a:rPr lang="pl-PL" dirty="0"/>
              <a:t>: p=4, w=2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10</a:t>
            </a:r>
            <a:r>
              <a:rPr lang="pl-PL" dirty="0"/>
              <a:t>: p=4, w=9</a:t>
            </a:r>
          </a:p>
          <a:p>
            <a:endParaRPr lang="pl-PL" dirty="0"/>
          </a:p>
          <a:p>
            <a:r>
              <a:rPr lang="pl-PL" dirty="0"/>
              <a:t>Node </a:t>
            </a:r>
            <a:r>
              <a:rPr lang="pl-PL" b="1" dirty="0">
                <a:solidFill>
                  <a:srgbClr val="FF0000"/>
                </a:solidFill>
              </a:rPr>
              <a:t>11</a:t>
            </a:r>
            <a:r>
              <a:rPr lang="pl-PL" dirty="0"/>
              <a:t>: p=6, w=4</a:t>
            </a:r>
            <a:endParaRPr lang="en-US" dirty="0"/>
          </a:p>
        </p:txBody>
      </p:sp>
      <p:pic>
        <p:nvPicPr>
          <p:cNvPr id="85" name="Picture 84" descr="A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6A029C81-A93D-87BF-9104-E61DD5C10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52" y="5251950"/>
            <a:ext cx="7316429" cy="1606050"/>
          </a:xfrm>
          <a:prstGeom prst="rect">
            <a:avLst/>
          </a:prstGeom>
        </p:spPr>
      </p:pic>
      <p:sp>
        <p:nvSpPr>
          <p:cNvPr id="87" name="Title 1">
            <a:extLst>
              <a:ext uri="{FF2B5EF4-FFF2-40B4-BE49-F238E27FC236}">
                <a16:creationId xmlns:a16="http://schemas.microsoft.com/office/drawing/2014/main" id="{7F60E4FB-651E-5A20-FB8F-59FA9E053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0" y="-23846"/>
            <a:ext cx="3449893" cy="9817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/>
              <a:t>Given Example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40EE0F-CCF9-4BE9-3138-ABDA578C1DAA}"/>
              </a:ext>
            </a:extLst>
          </p:cNvPr>
          <p:cNvSpPr txBox="1"/>
          <p:nvPr/>
        </p:nvSpPr>
        <p:spPr>
          <a:xfrm>
            <a:off x="5436010" y="4635427"/>
            <a:ext cx="293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3+5+5+16+18=47</a:t>
            </a:r>
          </a:p>
        </p:txBody>
      </p:sp>
    </p:spTree>
    <p:extLst>
      <p:ext uri="{BB962C8B-B14F-4D97-AF65-F5344CB8AC3E}">
        <p14:creationId xmlns:p14="http://schemas.microsoft.com/office/powerpoint/2010/main" val="2896961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3F9644-40DB-92A2-137F-977047D38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62096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C7E6F4-ED39-5FF0-D321-7158B328807E}"/>
              </a:ext>
            </a:extLst>
          </p:cNvPr>
          <p:cNvSpPr txBox="1"/>
          <p:nvPr/>
        </p:nvSpPr>
        <p:spPr>
          <a:xfrm>
            <a:off x="602363" y="1952992"/>
            <a:ext cx="4783697" cy="34335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Time Complexity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Each node and edge is processed exactly once, so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O(n).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Space Complexity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Use of adjacency list and DP arrays leads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O(n)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space.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dirty="0"/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https://github.com/Rakibuz/CSCE500-Algorithm-Design-Analysis-Spring25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</a:endParaRPr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792FD55-6FE4-9639-E89C-CE81CE36B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988424" y="563236"/>
            <a:ext cx="5365375" cy="55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94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41DDE-1C6D-D890-E18D-BB61B03FA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Analyzing</a:t>
            </a:r>
            <a:r>
              <a:rPr lang="en-US" dirty="0"/>
              <a:t>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effectLst/>
              </a:rPr>
              <a:t>Complexity 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44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542E7-DC5C-8C40-66BA-CEC6F5D23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3300"/>
            <a:ext cx="10515600" cy="51736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/>
              <a:t>Time Complexity Analysis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DFS Traversal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DFS on a </a:t>
            </a:r>
            <a:r>
              <a:rPr lang="pt-BR" b="1" dirty="0">
                <a:solidFill>
                  <a:srgbClr val="FF0000"/>
                </a:solidFill>
              </a:rPr>
              <a:t>general graph </a:t>
            </a:r>
            <a:r>
              <a:rPr lang="pt-BR" dirty="0"/>
              <a:t>is O(V + E)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Each node is visited exactly once (no cycles in a tree).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For each node, we process its children (edges). Since there are n-1 edges in total, the total work is O(n).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O(V + E) becomes O(n + (n - 1)) → </a:t>
            </a:r>
            <a:r>
              <a:rPr lang="pt-BR" b="1" dirty="0"/>
              <a:t>O(n)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DP Operations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For each node, we perform constant-time operations (e.g., max on child values). This adds no extra asymptotic cost. Thus, the total time is </a:t>
            </a:r>
            <a:r>
              <a:rPr lang="en-US" b="1" dirty="0"/>
              <a:t>O(n).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20396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84CB-610E-7F5B-8985-1838D7E6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Analyzing</a:t>
            </a:r>
            <a:r>
              <a:rPr lang="en-US" dirty="0"/>
              <a:t>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effectLst/>
              </a:rPr>
              <a:t>Complexity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9D2A4-0693-D28D-50D5-D43899C0C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/>
              <a:t>Space Complexity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Adjacency List: Stores n nodes and n-1 edges → O(n).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DP Arrays: Two entries per node → O(n).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Visited Array: O(n).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Recursion Stack: Worst-case depth is O(n) (e.g., a skewed tree like a linked list).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Total space complexity is </a:t>
            </a:r>
            <a:r>
              <a:rPr lang="en-US" b="1" dirty="0"/>
              <a:t>O(n)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0204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blue circles with black lines and dots">
            <a:extLst>
              <a:ext uri="{FF2B5EF4-FFF2-40B4-BE49-F238E27FC236}">
                <a16:creationId xmlns:a16="http://schemas.microsoft.com/office/drawing/2014/main" id="{C598D92B-8EAD-E92E-D5BB-8E3EAE0B2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700" y="982133"/>
            <a:ext cx="8356600" cy="557106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BEC839E-F009-16E0-476E-33BBBC36B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51" y="0"/>
            <a:ext cx="4783697" cy="62096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000" b="1" dirty="0"/>
              <a:t>Algorithm's execution</a:t>
            </a:r>
            <a:endParaRPr lang="en-US" sz="4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8080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13B58-3129-326D-3454-4458AD1C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Real-world use cases for MWIS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9C2DF-B339-D0D7-5D27-3129EB199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Network optimization</a:t>
            </a:r>
            <a:r>
              <a:rPr lang="en-US" dirty="0"/>
              <a:t>: Selecting non-adjacent network nodes for load balancing.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Scheduling</a:t>
            </a:r>
            <a:r>
              <a:rPr lang="en-US" dirty="0"/>
              <a:t>: Assigning non-conflicting tasks or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Resource allocation</a:t>
            </a:r>
            <a:r>
              <a:rPr lang="en-US" dirty="0"/>
              <a:t>: Maximizing non-overlapping allocations based on priorities.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30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aby making a face&#10;&#10;AI-generated content may be incorrect.">
            <a:extLst>
              <a:ext uri="{FF2B5EF4-FFF2-40B4-BE49-F238E27FC236}">
                <a16:creationId xmlns:a16="http://schemas.microsoft.com/office/drawing/2014/main" id="{C65441C3-53FD-41AE-B190-3E3B031C83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705" y="1525588"/>
            <a:ext cx="3692790" cy="4351338"/>
          </a:xfrm>
        </p:spPr>
      </p:pic>
    </p:spTree>
    <p:extLst>
      <p:ext uri="{BB962C8B-B14F-4D97-AF65-F5344CB8AC3E}">
        <p14:creationId xmlns:p14="http://schemas.microsoft.com/office/powerpoint/2010/main" val="22173645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 descr="A person holding a question mark&#10;&#10;AI-generated content may be incorrect.">
            <a:extLst>
              <a:ext uri="{FF2B5EF4-FFF2-40B4-BE49-F238E27FC236}">
                <a16:creationId xmlns:a16="http://schemas.microsoft.com/office/drawing/2014/main" id="{A3D3758A-AE1A-B42C-74B1-858ED3710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5617"/>
          <a:stretch/>
        </p:blipFill>
        <p:spPr>
          <a:xfrm>
            <a:off x="2168481" y="643466"/>
            <a:ext cx="785503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090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029FAF-C58B-4B3C-8FDA-CEBF48816C64}">
  <we:reference id="wa200005566" version="3.0.0.3" store="en-US" storeType="OMEX"/>
  <we:alternateReferences>
    <we:reference id="wa200005566" version="3.0.0.3" store="wa200005566" storeType="OMEX"/>
  </we:alternateReferences>
  <we:properties>
    <we:property name="theme" value="{&quot;name&quot;:&quot;Blue&quot;,&quot;fromFile&quot;:true,&quot;colorPalette&quot;:[&quot;0E2841&quot;,&quot;E8E8E8&quot;,&quot;3B82F6&quot;,&quot;60A5FA&quot;,&quot;5EEAD4&quot;,&quot;4E6887&quot;,&quot;22D3EE&quot;,&quot;054EA7&quot;,&quot;467886&quot;,&quot;96607D&quot;],&quot;color&quot;:&quot;#3B82F6&quot;,&quot;previewImages&quot;:[&quot;https://cpp.appsdowonders.com/assets/SlideTitle-blanche-blue.png&quot;,&quot;https://cpp.appsdowonders.com/assets/SlideTextbox1-blanche-blue.png&quot;,&quot;https://cpp.appsdowonders.com/assets/SlideTextbox3-blanche-blue.png&quot;,&quot;https://cpp.appsdowonders.com/assets/SlideTable-blanche-blue.png&quot;,&quot;https://cpp.appsdowonders.com/assets/SlideTimeline-blanche-blue.png&quot;],&quot;index&quot;:3}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E3A5153670324CAF80885EA87699F8" ma:contentTypeVersion="5" ma:contentTypeDescription="Create a new document." ma:contentTypeScope="" ma:versionID="80e08c50a7fb4fc7852d454e5c8ae0c1">
  <xsd:schema xmlns:xsd="http://www.w3.org/2001/XMLSchema" xmlns:xs="http://www.w3.org/2001/XMLSchema" xmlns:p="http://schemas.microsoft.com/office/2006/metadata/properties" xmlns:ns3="6967858a-f444-446f-8c1f-ea84fd6c748f" targetNamespace="http://schemas.microsoft.com/office/2006/metadata/properties" ma:root="true" ma:fieldsID="c51a17dadb2b18ca22b6bbfcaf96cd88" ns3:_="">
    <xsd:import namespace="6967858a-f444-446f-8c1f-ea84fd6c748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67858a-f444-446f-8c1f-ea84fd6c748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F239BE-47C6-4EBF-BAF5-6F4976A5CB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29E1BB-A7D2-4C5E-8169-CF29B3AF0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67858a-f444-446f-8c1f-ea84fd6c74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C30714-9AFA-46D0-B588-00375C31E5D0}">
  <ds:schemaRefs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6967858a-f444-446f-8c1f-ea84fd6c748f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1518</TotalTime>
  <Words>1556</Words>
  <Application>Microsoft Office PowerPoint</Application>
  <PresentationFormat>Widescreen</PresentationFormat>
  <Paragraphs>287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Aptos</vt:lpstr>
      <vt:lpstr>Aptos Display</vt:lpstr>
      <vt:lpstr>Arial</vt:lpstr>
      <vt:lpstr>Arial-BoldMT</vt:lpstr>
      <vt:lpstr>ArialMT</vt:lpstr>
      <vt:lpstr>CambriaMath</vt:lpstr>
      <vt:lpstr>Google Sans</vt:lpstr>
      <vt:lpstr>LMSans12-Regular-Identity-H</vt:lpstr>
      <vt:lpstr>SymbolMT</vt:lpstr>
      <vt:lpstr>Wingdings</vt:lpstr>
      <vt:lpstr>Office Theme</vt:lpstr>
      <vt:lpstr>Maximum-Weight Independent Set (MWIS)</vt:lpstr>
      <vt:lpstr>Independent Set</vt:lpstr>
      <vt:lpstr>Independent Set</vt:lpstr>
      <vt:lpstr>PowerPoint Presentation</vt:lpstr>
      <vt:lpstr>MWIS for General Graph</vt:lpstr>
      <vt:lpstr>PowerPoint Presentation</vt:lpstr>
      <vt:lpstr>Not Considering General Graph</vt:lpstr>
      <vt:lpstr>Not Considering General Graph</vt:lpstr>
      <vt:lpstr>Not Considering General Graph</vt:lpstr>
      <vt:lpstr>NP-hard</vt:lpstr>
      <vt:lpstr>MWIS on Trees</vt:lpstr>
      <vt:lpstr>MWIS on Trees</vt:lpstr>
      <vt:lpstr>MWIS on Trees</vt:lpstr>
      <vt:lpstr>MWIS on Trees</vt:lpstr>
      <vt:lpstr>Algorithm Design</vt:lpstr>
      <vt:lpstr>Pseudo Code</vt:lpstr>
      <vt:lpstr>Problem Description</vt:lpstr>
      <vt:lpstr>Given Example</vt:lpstr>
      <vt:lpstr>Given Example</vt:lpstr>
      <vt:lpstr>Given Example</vt:lpstr>
      <vt:lpstr>Implementation</vt:lpstr>
      <vt:lpstr>Analyzing Complexity   </vt:lpstr>
      <vt:lpstr>Analyzing Complexity</vt:lpstr>
      <vt:lpstr>Algorithm's execution</vt:lpstr>
      <vt:lpstr>Real-world use cases for MWIS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Rakibuz Sultan</dc:creator>
  <cp:lastModifiedBy>Md Rakibuz Sultan</cp:lastModifiedBy>
  <cp:revision>93</cp:revision>
  <dcterms:created xsi:type="dcterms:W3CDTF">2025-04-01T08:18:50Z</dcterms:created>
  <dcterms:modified xsi:type="dcterms:W3CDTF">2025-04-14T23:53:03Z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8202f9-8d41-4950-b014-f183e397b746_Enabled">
    <vt:lpwstr>true</vt:lpwstr>
  </property>
  <property fmtid="{D5CDD505-2E9C-101B-9397-08002B2CF9AE}" pid="3" name="MSIP_Label_638202f9-8d41-4950-b014-f183e397b746_SetDate">
    <vt:lpwstr>2025-04-01T08:28:09Z</vt:lpwstr>
  </property>
  <property fmtid="{D5CDD505-2E9C-101B-9397-08002B2CF9AE}" pid="4" name="MSIP_Label_638202f9-8d41-4950-b014-f183e397b746_Method">
    <vt:lpwstr>Standard</vt:lpwstr>
  </property>
  <property fmtid="{D5CDD505-2E9C-101B-9397-08002B2CF9AE}" pid="5" name="MSIP_Label_638202f9-8d41-4950-b014-f183e397b746_Name">
    <vt:lpwstr>defa4170-0d19-0005-0004-bc88714345d2</vt:lpwstr>
  </property>
  <property fmtid="{D5CDD505-2E9C-101B-9397-08002B2CF9AE}" pid="6" name="MSIP_Label_638202f9-8d41-4950-b014-f183e397b746_SiteId">
    <vt:lpwstr>13b3b0ce-cd75-49a4-bfea-0a03b01ff1ab</vt:lpwstr>
  </property>
  <property fmtid="{D5CDD505-2E9C-101B-9397-08002B2CF9AE}" pid="7" name="MSIP_Label_638202f9-8d41-4950-b014-f183e397b746_ActionId">
    <vt:lpwstr>7b4850f8-87ad-4719-bf6f-0f4644276a80</vt:lpwstr>
  </property>
  <property fmtid="{D5CDD505-2E9C-101B-9397-08002B2CF9AE}" pid="8" name="MSIP_Label_638202f9-8d41-4950-b014-f183e397b746_ContentBits">
    <vt:lpwstr>0</vt:lpwstr>
  </property>
  <property fmtid="{D5CDD505-2E9C-101B-9397-08002B2CF9AE}" pid="9" name="MSIP_Label_638202f9-8d41-4950-b014-f183e397b746_Tag">
    <vt:lpwstr>10, 3, 0, 1</vt:lpwstr>
  </property>
  <property fmtid="{D5CDD505-2E9C-101B-9397-08002B2CF9AE}" pid="10" name="ContentTypeId">
    <vt:lpwstr>0x01010016E3A5153670324CAF80885EA87699F8</vt:lpwstr>
  </property>
</Properties>
</file>